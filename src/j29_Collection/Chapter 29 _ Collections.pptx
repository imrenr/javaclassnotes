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6" r:id="rId2"/>
  </p:sldMasterIdLst>
  <p:notesMasterIdLst>
    <p:notesMasterId r:id="rId45"/>
  </p:notesMasterIdLst>
  <p:sldIdLst>
    <p:sldId id="925" r:id="rId3"/>
    <p:sldId id="955" r:id="rId4"/>
    <p:sldId id="947" r:id="rId5"/>
    <p:sldId id="948" r:id="rId6"/>
    <p:sldId id="988" r:id="rId7"/>
    <p:sldId id="958" r:id="rId8"/>
    <p:sldId id="959" r:id="rId9"/>
    <p:sldId id="960" r:id="rId10"/>
    <p:sldId id="961" r:id="rId11"/>
    <p:sldId id="962" r:id="rId12"/>
    <p:sldId id="963" r:id="rId13"/>
    <p:sldId id="964" r:id="rId14"/>
    <p:sldId id="956" r:id="rId15"/>
    <p:sldId id="965" r:id="rId16"/>
    <p:sldId id="957" r:id="rId17"/>
    <p:sldId id="966" r:id="rId18"/>
    <p:sldId id="967" r:id="rId19"/>
    <p:sldId id="968" r:id="rId20"/>
    <p:sldId id="969" r:id="rId21"/>
    <p:sldId id="970" r:id="rId22"/>
    <p:sldId id="978" r:id="rId23"/>
    <p:sldId id="971" r:id="rId24"/>
    <p:sldId id="972" r:id="rId25"/>
    <p:sldId id="950" r:id="rId26"/>
    <p:sldId id="973" r:id="rId27"/>
    <p:sldId id="979" r:id="rId28"/>
    <p:sldId id="974" r:id="rId29"/>
    <p:sldId id="975" r:id="rId30"/>
    <p:sldId id="976" r:id="rId31"/>
    <p:sldId id="977" r:id="rId32"/>
    <p:sldId id="982" r:id="rId33"/>
    <p:sldId id="980" r:id="rId34"/>
    <p:sldId id="989" r:id="rId35"/>
    <p:sldId id="990" r:id="rId36"/>
    <p:sldId id="983" r:id="rId37"/>
    <p:sldId id="984" r:id="rId38"/>
    <p:sldId id="986" r:id="rId39"/>
    <p:sldId id="987" r:id="rId40"/>
    <p:sldId id="991" r:id="rId41"/>
    <p:sldId id="992" r:id="rId42"/>
    <p:sldId id="671" r:id="rId43"/>
    <p:sldId id="270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ukbilgin.uk@gmail.com" initials="h" lastIdx="2" clrIdx="0">
    <p:extLst>
      <p:ext uri="{19B8F6BF-5375-455C-9EA6-DF929625EA0E}">
        <p15:presenceInfo xmlns:p15="http://schemas.microsoft.com/office/powerpoint/2012/main" userId="db239b5688306e8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03366"/>
    <a:srgbClr val="0066CC"/>
    <a:srgbClr val="9945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96921"/>
  </p:normalViewPr>
  <p:slideViewPr>
    <p:cSldViewPr snapToGrid="0">
      <p:cViewPr varScale="1">
        <p:scale>
          <a:sx n="117" d="100"/>
          <a:sy n="117" d="100"/>
        </p:scale>
        <p:origin x="92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50261-6BB6-43E5-9586-B92D79ADB2EB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81953-EE44-411B-88C4-83E2C37F9F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56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1953-EE44-411B-88C4-83E2C37F9FF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97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81953-EE44-411B-88C4-83E2C37F9FF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337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190BBDF-BC0E-472C-A36F-3B45D93AA084}" type="datetime1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42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D98D-7461-4214-AC33-F73E73108C16}" type="datetime1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68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E880-CBBE-4D4F-BE41-07D13A9ECCCA}" type="datetime1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53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59C5-65A3-481C-832B-507FC72371D1}" type="datetime1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40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BFAF-C410-49DB-92DA-440906E1DAB0}" type="datetime1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33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FC5F-3A61-42A2-A156-C150CD6BA0D7}" type="datetime1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56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691D8-2E69-47FD-A148-D9C9EA486F58}" type="datetime1">
              <a:rPr lang="en-GB" smtClean="0"/>
              <a:t>14/01/2026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1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C0E0C-7CAA-41D4-A9B0-8339AC896F60}" type="datetime1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85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EC98D-CA82-47B5-9DF4-EA27286869B8}" type="datetime1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63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B142-AA52-4846-8ABD-5FA1E484E70A}" type="datetime1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298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FED9-29C7-4562-98C8-5D973A38D741}" type="datetime1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770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3A7E-782C-4C60-BCA2-5B1B1B9C921E}" type="datetime1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16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4DC1-9AE6-4EF7-8E60-A94351FBDE97}" type="datetime1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62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3629-3572-4F8F-BD38-10463814320D}" type="datetime1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627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BA6-59C2-4711-A6AE-3DEFCF13E452}" type="datetime1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513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36FD313-AC37-4308-B3DC-E9F86968BC28}" type="datetime1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14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60C128A-D8D1-49BD-B349-CCDAB54848CD}" type="datetime1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0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190BBDF-BC0E-472C-A36F-3B45D93AA084}" type="datetime1">
              <a:rPr lang="en-GB" smtClean="0">
                <a:solidFill>
                  <a:prstClr val="white">
                    <a:alpha val="60000"/>
                  </a:prstClr>
                </a:solidFill>
              </a:rPr>
              <a:pPr/>
              <a:t>15/01/2026</a:t>
            </a:fld>
            <a:endParaRPr lang="en-GB">
              <a:solidFill>
                <a:prstClr val="white"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alpha val="60000"/>
                </a:prst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0454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D98D-7461-4214-AC33-F73E73108C16}" type="datetime1">
              <a:rPr lang="en-GB" smtClean="0">
                <a:solidFill>
                  <a:srgbClr val="B31166"/>
                </a:solidFill>
              </a:rPr>
              <a:pPr/>
              <a:t>14/01/2026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564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E880-CBBE-4D4F-BE41-07D13A9ECCCA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402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59C5-65A3-481C-832B-507FC72371D1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3125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BFAF-C410-49DB-92DA-440906E1DAB0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1579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FC5F-3A61-42A2-A156-C150CD6BA0D7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4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691D8-2E69-47FD-A148-D9C9EA486F58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923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C0E0C-7CAA-41D4-A9B0-8339AC896F60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736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EC98D-CA82-47B5-9DF4-EA27286869B8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190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B142-AA52-4846-8ABD-5FA1E484E70A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5928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FED9-29C7-4562-98C8-5D973A38D741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602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dirty="0">
                <a:solidFill>
                  <a:srgbClr val="B31166">
                    <a:lumMod val="60000"/>
                    <a:lumOff val="40000"/>
                  </a:srgb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dirty="0">
                <a:solidFill>
                  <a:srgbClr val="B31166">
                    <a:lumMod val="60000"/>
                    <a:lumOff val="40000"/>
                  </a:srgb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3A7E-782C-4C60-BCA2-5B1B1B9C921E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0185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4DC1-9AE6-4EF7-8E60-A94351FBDE97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0019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3629-3572-4F8F-BD38-10463814320D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811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BA6-59C2-4711-A6AE-3DEFCF13E452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7200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36FD313-AC37-4308-B3DC-E9F86968BC28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7740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60C128A-D8D1-49BD-B349-CCDAB54848CD}" type="datetime1">
              <a:rPr lang="en-GB" smtClean="0">
                <a:solidFill>
                  <a:srgbClr val="B31166"/>
                </a:solidFill>
              </a:rPr>
              <a:pPr/>
              <a:t>15/01/2026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57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7EFECC1-6B8E-4AB9-B95C-8C043A5F34F5}" type="datetime1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8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7EFECC1-6B8E-4AB9-B95C-8C043A5F34F5}" type="datetime1">
              <a:rPr lang="en-GB" smtClean="0">
                <a:solidFill>
                  <a:srgbClr val="B31166"/>
                </a:solidFill>
              </a:rPr>
              <a:pPr/>
              <a:t>14/01/2026</a:t>
            </a:fld>
            <a:endParaRPr lang="en-GB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>
              <a:solidFill>
                <a:srgbClr val="B31166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F25E363-AEB8-457D-A372-AB32C6C0CEFC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6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geeksforgeeks.org/collections-in-java-2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w3schools.com/java/java_arrays.as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llections-in-java-2/" TargetMode="External"/><Relationship Id="rId2" Type="http://schemas.openxmlformats.org/officeDocument/2006/relationships/hyperlink" Target="https://www.geeksforgeeks.org/java-util-package-java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rtedset-java-examples/" TargetMode="External"/><Relationship Id="rId2" Type="http://schemas.openxmlformats.org/officeDocument/2006/relationships/hyperlink" Target="https://www.geeksforgeeks.org/collections-in-java-2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null-pointer-exception-in-java/" TargetMode="External"/><Relationship Id="rId2" Type="http://schemas.openxmlformats.org/officeDocument/2006/relationships/hyperlink" Target="https://www.geeksforgeeks.org/sortedset-java-exampl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que-set-1-introduction-application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246D-F95A-130A-A611-ED2D1DCE8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373" y="2465669"/>
            <a:ext cx="4820332" cy="854580"/>
          </a:xfrm>
        </p:spPr>
        <p:txBody>
          <a:bodyPr>
            <a:noAutofit/>
          </a:bodyPr>
          <a:lstStyle/>
          <a:p>
            <a:pPr algn="ctr"/>
            <a:r>
              <a:rPr lang="tr-TR" sz="6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</a:t>
            </a:r>
            <a:r>
              <a:rPr lang="tr-TR" sz="6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tr-TR" sz="4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28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tr-TR" sz="4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  <a:endParaRPr lang="en-GB" sz="4400" b="1" dirty="0">
              <a:solidFill>
                <a:srgbClr val="EBEB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E2D86BB-893F-471B-AD66-50E01777C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3" y="396837"/>
            <a:ext cx="6451503" cy="6058999"/>
            <a:chOff x="423333" y="396837"/>
            <a:chExt cx="6451503" cy="605899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E3F80D-79C6-468A-83E4-3FEA58556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3" y="402165"/>
              <a:ext cx="522933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09504C1-96CE-44B4-8DF0-613CF9D1DA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3161515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F299836-4C10-4395-B386-C0FA537C4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5004670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06F5A83-AE51-A66E-4CC6-C43C3873F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45" y="1536276"/>
            <a:ext cx="5805307" cy="124881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0E27E59-EA9F-7CE5-E71F-58A721868F00}"/>
              </a:ext>
            </a:extLst>
          </p:cNvPr>
          <p:cNvSpPr txBox="1">
            <a:spLocks/>
          </p:cNvSpPr>
          <p:nvPr/>
        </p:nvSpPr>
        <p:spPr bwMode="gray">
          <a:xfrm>
            <a:off x="7199305" y="5670217"/>
            <a:ext cx="4151605" cy="571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32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Lesson</a:t>
            </a:r>
            <a: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</a:t>
            </a:r>
            <a:r>
              <a:rPr lang="tr-TR" sz="32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</a:t>
            </a:r>
            <a: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  <a:endParaRPr lang="en-US" sz="3200" b="1" dirty="0">
              <a:solidFill>
                <a:srgbClr val="EBEB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GB" sz="3200" b="1" dirty="0">
              <a:solidFill>
                <a:srgbClr val="EBEB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8CFBC012-8FE3-534E-5BF8-AF519DF42B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91" y="5113530"/>
            <a:ext cx="469884" cy="469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DD28D3-2034-8142-2D62-D120FBCD81EA}"/>
              </a:ext>
            </a:extLst>
          </p:cNvPr>
          <p:cNvSpPr txBox="1"/>
          <p:nvPr/>
        </p:nvSpPr>
        <p:spPr>
          <a:xfrm>
            <a:off x="658275" y="5179195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66CC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rgbClr val="0066CC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7E1E2408-DB6C-65BA-0839-B9A5321830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0" y="4474062"/>
            <a:ext cx="601825" cy="6018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B9A80B-2270-5312-9283-688B54FAE9BD}"/>
              </a:ext>
            </a:extLst>
          </p:cNvPr>
          <p:cNvSpPr txBox="1"/>
          <p:nvPr/>
        </p:nvSpPr>
        <p:spPr>
          <a:xfrm>
            <a:off x="658275" y="460088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1" name="Picture 20" descr="Logo, icon&#10;&#10;Description automatically generated">
            <a:extLst>
              <a:ext uri="{FF2B5EF4-FFF2-40B4-BE49-F238E27FC236}">
                <a16:creationId xmlns:a16="http://schemas.microsoft.com/office/drawing/2014/main" id="{FC3C8390-4F67-4672-C474-080DDD73CC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91" y="5670217"/>
            <a:ext cx="397884" cy="3978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7D4C98F-B3F7-2D39-3841-AD43CB8367DB}"/>
              </a:ext>
            </a:extLst>
          </p:cNvPr>
          <p:cNvSpPr txBox="1"/>
          <p:nvPr/>
        </p:nvSpPr>
        <p:spPr>
          <a:xfrm>
            <a:off x="658275" y="5666027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3366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rgbClr val="003366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4" name="Picture 23" descr="Logo, icon&#10;&#10;Description automatically generated">
            <a:extLst>
              <a:ext uri="{FF2B5EF4-FFF2-40B4-BE49-F238E27FC236}">
                <a16:creationId xmlns:a16="http://schemas.microsoft.com/office/drawing/2014/main" id="{030630F6-33AC-835C-0E20-D10217E0AF4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90" y="6105827"/>
            <a:ext cx="469884" cy="4698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491E075-2523-5B48-4A7A-EC52A14D2AC6}"/>
              </a:ext>
            </a:extLst>
          </p:cNvPr>
          <p:cNvSpPr txBox="1"/>
          <p:nvPr/>
        </p:nvSpPr>
        <p:spPr>
          <a:xfrm>
            <a:off x="658274" y="615285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C00000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rgbClr val="C00000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4CBE2709-BEB8-D7B1-B0FB-CCCF6F9F10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96" y="4020534"/>
            <a:ext cx="516942" cy="51694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6D66155-FA38-BBBE-DF06-19737E95C9D7}"/>
              </a:ext>
            </a:extLst>
          </p:cNvPr>
          <p:cNvSpPr txBox="1"/>
          <p:nvPr/>
        </p:nvSpPr>
        <p:spPr>
          <a:xfrm>
            <a:off x="622275" y="407290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99CC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rgbClr val="0099CC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5940931-8F9F-7068-AD80-DBFC4010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38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615A4E-6E22-5CB4-FB14-C7B3D7C8A099}"/>
              </a:ext>
            </a:extLst>
          </p:cNvPr>
          <p:cNvSpPr txBox="1">
            <a:spLocks/>
          </p:cNvSpPr>
          <p:nvPr/>
        </p:nvSpPr>
        <p:spPr bwMode="gray">
          <a:xfrm>
            <a:off x="721259" y="633256"/>
            <a:ext cx="3840547" cy="1020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48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CCEF9-5290-A0F1-BF3C-526CC5646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657" y="833160"/>
            <a:ext cx="7158671" cy="566000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46507-AD7E-90AD-A62A-01A1C12680DA}"/>
              </a:ext>
            </a:extLst>
          </p:cNvPr>
          <p:cNvSpPr txBox="1"/>
          <p:nvPr/>
        </p:nvSpPr>
        <p:spPr>
          <a:xfrm>
            <a:off x="957941" y="2229427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rgbClr val="B31166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Collections: </a:t>
            </a:r>
            <a:r>
              <a:rPr lang="en-US" b="1" dirty="0" err="1">
                <a:solidFill>
                  <a:srgbClr val="FFFFFF"/>
                </a:solidFill>
              </a:rPr>
              <a:t>object’lerden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oluşan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bir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topluluğu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bir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arada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tutan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yapılardır</a:t>
            </a:r>
            <a:r>
              <a:rPr lang="en-US" b="1" dirty="0">
                <a:solidFill>
                  <a:srgbClr val="FFFFFF"/>
                </a:solidFill>
              </a:rPr>
              <a:t>.</a:t>
            </a:r>
            <a:br>
              <a:rPr lang="tr-TR" b="1" dirty="0">
                <a:solidFill>
                  <a:srgbClr val="FFFFFF"/>
                </a:solidFill>
              </a:rPr>
            </a:br>
            <a:br>
              <a:rPr lang="tr-TR" b="1" dirty="0">
                <a:solidFill>
                  <a:srgbClr val="FFFFFF"/>
                </a:solidFill>
              </a:rPr>
            </a:br>
            <a:r>
              <a:rPr lang="en-GB" b="1" dirty="0">
                <a:latin typeface="Bahnschrift" panose="020B0502040204020203" pitchFamily="34" charset="0"/>
              </a:rPr>
              <a:t>5 </a:t>
            </a:r>
            <a:r>
              <a:rPr lang="en-GB" b="1" dirty="0" err="1">
                <a:latin typeface="Bahnschrift" panose="020B0502040204020203" pitchFamily="34" charset="0"/>
              </a:rPr>
              <a:t>kelime’ye</a:t>
            </a:r>
            <a:r>
              <a:rPr lang="en-GB" b="1" dirty="0">
                <a:latin typeface="Bahnschrift" panose="020B0502040204020203" pitchFamily="34" charset="0"/>
              </a:rPr>
              <a:t> </a:t>
            </a:r>
            <a:r>
              <a:rPr lang="tr-TR" b="1" dirty="0">
                <a:latin typeface="Bahnschrift" panose="020B0502040204020203" pitchFamily="34" charset="0"/>
              </a:rPr>
              <a:t>D</a:t>
            </a:r>
            <a:r>
              <a:rPr lang="en-GB" b="1" dirty="0" err="1">
                <a:latin typeface="Bahnschrift" panose="020B0502040204020203" pitchFamily="34" charset="0"/>
              </a:rPr>
              <a:t>ikkat</a:t>
            </a:r>
            <a:r>
              <a:rPr lang="tr-TR" b="1" dirty="0">
                <a:latin typeface="Bahnschrift" panose="020B0502040204020203" pitchFamily="34" charset="0"/>
              </a:rPr>
              <a:t>!</a:t>
            </a:r>
            <a:r>
              <a:rPr lang="en-US" b="1" dirty="0"/>
              <a:t> </a:t>
            </a:r>
            <a:br>
              <a:rPr lang="tr-TR" b="1" dirty="0"/>
            </a:br>
            <a:br>
              <a:rPr lang="tr-TR" b="1" dirty="0"/>
            </a:br>
            <a:r>
              <a:rPr lang="en-GB" b="1" dirty="0">
                <a:latin typeface="Bahnschrift" panose="020B0502040204020203" pitchFamily="34" charset="0"/>
              </a:rPr>
              <a:t>1) Set (K</a:t>
            </a:r>
            <a:r>
              <a:rPr lang="tr-TR" b="1" dirty="0">
                <a:latin typeface="Bahnschrift" panose="020B0502040204020203" pitchFamily="34" charset="0"/>
              </a:rPr>
              <a:t>ü</a:t>
            </a:r>
            <a:r>
              <a:rPr lang="en-GB" b="1" dirty="0">
                <a:latin typeface="Bahnschrift" panose="020B0502040204020203" pitchFamily="34" charset="0"/>
              </a:rPr>
              <a:t>me)</a:t>
            </a:r>
            <a:br>
              <a:rPr lang="tr-TR" b="1" dirty="0">
                <a:latin typeface="Bahnschrift" panose="020B0502040204020203" pitchFamily="34" charset="0"/>
              </a:rPr>
            </a:br>
            <a:r>
              <a:rPr lang="en-GB" b="1" dirty="0">
                <a:latin typeface="Bahnschrift" panose="020B0502040204020203" pitchFamily="34" charset="0"/>
              </a:rPr>
              <a:t>2) Queue (S</a:t>
            </a:r>
            <a:r>
              <a:rPr lang="tr-TR" b="1" dirty="0">
                <a:latin typeface="Bahnschrift" panose="020B0502040204020203" pitchFamily="34" charset="0"/>
              </a:rPr>
              <a:t>ı</a:t>
            </a:r>
            <a:r>
              <a:rPr lang="en-GB" b="1" dirty="0" err="1">
                <a:latin typeface="Bahnschrift" panose="020B0502040204020203" pitchFamily="34" charset="0"/>
              </a:rPr>
              <a:t>ra</a:t>
            </a:r>
            <a:r>
              <a:rPr lang="en-GB" b="1" dirty="0">
                <a:latin typeface="Bahnschrift" panose="020B0502040204020203" pitchFamily="34" charset="0"/>
              </a:rPr>
              <a:t>)</a:t>
            </a:r>
            <a:br>
              <a:rPr lang="tr-TR" b="1" dirty="0">
                <a:latin typeface="Bahnschrift" panose="020B0502040204020203" pitchFamily="34" charset="0"/>
              </a:rPr>
            </a:br>
            <a:r>
              <a:rPr lang="en-GB" b="1" dirty="0">
                <a:latin typeface="Bahnschrift" panose="020B0502040204020203" pitchFamily="34" charset="0"/>
              </a:rPr>
              <a:t>3) Linked (Ba</a:t>
            </a:r>
            <a:r>
              <a:rPr lang="tr-TR" b="1" dirty="0">
                <a:latin typeface="Bahnschrift" panose="020B0502040204020203" pitchFamily="34" charset="0"/>
              </a:rPr>
              <a:t>ğ</a:t>
            </a:r>
            <a:r>
              <a:rPr lang="en-GB" b="1" dirty="0">
                <a:latin typeface="Bahnschrift" panose="020B0502040204020203" pitchFamily="34" charset="0"/>
              </a:rPr>
              <a:t>l</a:t>
            </a:r>
            <a:r>
              <a:rPr lang="tr-TR" b="1" dirty="0">
                <a:latin typeface="Bahnschrift" panose="020B0502040204020203" pitchFamily="34" charset="0"/>
              </a:rPr>
              <a:t>ı</a:t>
            </a:r>
            <a:r>
              <a:rPr lang="en-GB" b="1" dirty="0">
                <a:latin typeface="Bahnschrift" panose="020B0502040204020203" pitchFamily="34" charset="0"/>
              </a:rPr>
              <a:t>)</a:t>
            </a:r>
            <a:br>
              <a:rPr lang="tr-TR" b="1" dirty="0">
                <a:latin typeface="Bahnschrift" panose="020B0502040204020203" pitchFamily="34" charset="0"/>
              </a:rPr>
            </a:br>
            <a:r>
              <a:rPr lang="en-GB" b="1" dirty="0">
                <a:latin typeface="Bahnschrift" panose="020B0502040204020203" pitchFamily="34" charset="0"/>
              </a:rPr>
              <a:t>4) Tree (Do</a:t>
            </a:r>
            <a:r>
              <a:rPr lang="tr-TR" b="1" dirty="0">
                <a:latin typeface="Bahnschrift" panose="020B0502040204020203" pitchFamily="34" charset="0"/>
              </a:rPr>
              <a:t>ğ</a:t>
            </a:r>
            <a:r>
              <a:rPr lang="en-GB" b="1" dirty="0">
                <a:latin typeface="Bahnschrift" panose="020B0502040204020203" pitchFamily="34" charset="0"/>
              </a:rPr>
              <a:t>al</a:t>
            </a:r>
            <a:r>
              <a:rPr lang="tr-TR" b="1" dirty="0">
                <a:latin typeface="Bahnschrift" panose="020B0502040204020203" pitchFamily="34" charset="0"/>
              </a:rPr>
              <a:t> </a:t>
            </a:r>
            <a:r>
              <a:rPr lang="en-GB" b="1" dirty="0">
                <a:latin typeface="Bahnschrift" panose="020B0502040204020203" pitchFamily="34" charset="0"/>
              </a:rPr>
              <a:t>S</a:t>
            </a:r>
            <a:r>
              <a:rPr lang="tr-TR" b="1" dirty="0">
                <a:latin typeface="Bahnschrift" panose="020B0502040204020203" pitchFamily="34" charset="0"/>
              </a:rPr>
              <a:t>ı</a:t>
            </a:r>
            <a:r>
              <a:rPr lang="en-GB" b="1" dirty="0" err="1">
                <a:latin typeface="Bahnschrift" panose="020B0502040204020203" pitchFamily="34" charset="0"/>
              </a:rPr>
              <a:t>ral</a:t>
            </a:r>
            <a:r>
              <a:rPr lang="tr-TR" b="1" dirty="0">
                <a:latin typeface="Bahnschrift" panose="020B0502040204020203" pitchFamily="34" charset="0"/>
              </a:rPr>
              <a:t>ı</a:t>
            </a:r>
            <a:r>
              <a:rPr lang="en-GB" b="1" dirty="0">
                <a:latin typeface="Bahnschrift" panose="020B0502040204020203" pitchFamily="34" charset="0"/>
              </a:rPr>
              <a:t>)</a:t>
            </a:r>
            <a:br>
              <a:rPr lang="tr-TR" b="1" dirty="0">
                <a:latin typeface="Bahnschrift" panose="020B0502040204020203" pitchFamily="34" charset="0"/>
              </a:rPr>
            </a:br>
            <a:r>
              <a:rPr lang="en-GB" b="1" dirty="0">
                <a:latin typeface="Bahnschrift" panose="020B0502040204020203" pitchFamily="34" charset="0"/>
              </a:rPr>
              <a:t>5) Hash </a:t>
            </a:r>
            <a:endParaRPr lang="en-US" b="1" dirty="0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6F25E363-AEB8-457D-A372-AB32C6C0CEFC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</p:spTree>
    <p:extLst>
      <p:ext uri="{BB962C8B-B14F-4D97-AF65-F5344CB8AC3E}">
        <p14:creationId xmlns:p14="http://schemas.microsoft.com/office/powerpoint/2010/main" val="2723133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10534126" cy="706964"/>
          </a:xfrm>
        </p:spPr>
        <p:txBody>
          <a:bodyPr/>
          <a:lstStyle/>
          <a:p>
            <a:r>
              <a:rPr lang="tr-TR" sz="4000" b="1" dirty="0" err="1">
                <a:latin typeface="Arial Rounded MT Bold" pitchFamily="34" charset="0"/>
              </a:rPr>
              <a:t>java.util.Collection</a:t>
            </a:r>
            <a:r>
              <a:rPr lang="en-US" sz="4000" b="1" dirty="0">
                <a:latin typeface="Arial Rounded MT Bold" pitchFamily="34" charset="0"/>
              </a:rPr>
              <a:t> &amp;&amp; </a:t>
            </a:r>
            <a:r>
              <a:rPr lang="tr-TR" sz="4000" b="1" dirty="0" err="1">
                <a:latin typeface="Arial Rounded MT Bold" pitchFamily="34" charset="0"/>
              </a:rPr>
              <a:t>java.util.Map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</a:t>
            </a:fld>
            <a:endParaRPr lang="en-GB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" y="2225040"/>
            <a:ext cx="8061960" cy="4632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320" y="2194560"/>
            <a:ext cx="3535680" cy="238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760" y="4576762"/>
            <a:ext cx="3352800" cy="217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ikdörtgen 2"/>
          <p:cNvSpPr/>
          <p:nvPr/>
        </p:nvSpPr>
        <p:spPr>
          <a:xfrm>
            <a:off x="7778584" y="5118854"/>
            <a:ext cx="1810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>
                <a:solidFill>
                  <a:srgbClr val="00B0F0"/>
                </a:solidFill>
              </a:rPr>
              <a:t>(</a:t>
            </a:r>
            <a:r>
              <a:rPr lang="tr-TR" b="1" dirty="0" err="1">
                <a:solidFill>
                  <a:srgbClr val="00B0F0"/>
                </a:solidFill>
              </a:rPr>
              <a:t>java.util.Map</a:t>
            </a:r>
            <a:r>
              <a:rPr lang="tr-TR" b="1" dirty="0">
                <a:solidFill>
                  <a:srgbClr val="00B0F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229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base"/>
            <a:r>
              <a:rPr lang="tr-TR" sz="4000" b="1" dirty="0">
                <a:latin typeface="Arial Rounded MT Bold" pitchFamily="34" charset="0"/>
              </a:rPr>
              <a:t>Java'daki Koleksiyonlar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Tek bir birim olarak temsil edilen herhangi bir bireysel nesne grubu, nesnelerin koleksiyonu olarak bilinir.</a:t>
            </a:r>
            <a:endParaRPr lang="en-US" b="1" dirty="0"/>
          </a:p>
          <a:p>
            <a:r>
              <a:rPr lang="tr-TR" b="1" dirty="0"/>
              <a:t>Collection </a:t>
            </a:r>
            <a:r>
              <a:rPr lang="tr-TR" b="1" dirty="0" err="1"/>
              <a:t>interface</a:t>
            </a:r>
            <a:r>
              <a:rPr lang="en-US" b="1" dirty="0"/>
              <a:t> </a:t>
            </a:r>
            <a:r>
              <a:rPr lang="tr-TR" b="1" dirty="0"/>
              <a:t>( </a:t>
            </a:r>
            <a:r>
              <a:rPr lang="tr-TR" b="1" dirty="0" err="1">
                <a:solidFill>
                  <a:srgbClr val="00B0F0"/>
                </a:solidFill>
              </a:rPr>
              <a:t>java.util.Collection</a:t>
            </a:r>
            <a:r>
              <a:rPr lang="tr-TR" b="1" dirty="0"/>
              <a:t> ) ve </a:t>
            </a:r>
            <a:r>
              <a:rPr lang="tr-TR" b="1" dirty="0" err="1"/>
              <a:t>Map</a:t>
            </a:r>
            <a:r>
              <a:rPr lang="tr-TR" b="1" dirty="0"/>
              <a:t> </a:t>
            </a:r>
            <a:r>
              <a:rPr lang="tr-TR" b="1" dirty="0" err="1"/>
              <a:t>interface</a:t>
            </a:r>
            <a:r>
              <a:rPr lang="tr-TR" b="1" dirty="0"/>
              <a:t> ( </a:t>
            </a:r>
            <a:r>
              <a:rPr lang="tr-TR" b="1" dirty="0" err="1">
                <a:solidFill>
                  <a:srgbClr val="00B0F0"/>
                </a:solidFill>
              </a:rPr>
              <a:t>java.util.Map</a:t>
            </a:r>
            <a:r>
              <a:rPr lang="tr-TR" b="1" dirty="0">
                <a:solidFill>
                  <a:srgbClr val="00B0F0"/>
                </a:solidFill>
              </a:rPr>
              <a:t> </a:t>
            </a:r>
            <a:r>
              <a:rPr lang="tr-TR" b="1" dirty="0"/>
              <a:t>), Java koleksiyon sınıflarının iki ana "</a:t>
            </a:r>
            <a:r>
              <a:rPr lang="tr-TR" b="1" dirty="0" err="1"/>
              <a:t>root</a:t>
            </a:r>
            <a:r>
              <a:rPr lang="tr-TR" b="1" dirty="0"/>
              <a:t>” </a:t>
            </a:r>
            <a:r>
              <a:rPr lang="tr-TR" b="1" dirty="0" err="1"/>
              <a:t>interface</a:t>
            </a:r>
            <a:r>
              <a:rPr lang="en-US" b="1" dirty="0"/>
              <a:t> </a:t>
            </a:r>
            <a:r>
              <a:rPr lang="en-US" b="1" dirty="0" err="1"/>
              <a:t>leridir</a:t>
            </a:r>
            <a:r>
              <a:rPr lang="tr-TR" b="1" dirty="0"/>
              <a:t>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 </a:t>
            </a:r>
            <a:r>
              <a:rPr lang="en-US" b="1" dirty="0">
                <a:solidFill>
                  <a:srgbClr val="00B0F0"/>
                </a:solidFill>
              </a:rPr>
              <a:t>trick=&gt;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4</a:t>
            </a:fld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8788" y="1785938"/>
            <a:ext cx="2638425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607" y="4130040"/>
            <a:ext cx="3933825" cy="2727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937" y="5749290"/>
            <a:ext cx="280987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Dikdörtgen 7"/>
          <p:cNvSpPr/>
          <p:nvPr/>
        </p:nvSpPr>
        <p:spPr>
          <a:xfrm>
            <a:off x="6481964" y="5124688"/>
            <a:ext cx="5155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Java collection </a:t>
            </a:r>
            <a:r>
              <a:rPr lang="en-US" b="1" u="sng" dirty="0" err="1"/>
              <a:t>lar</a:t>
            </a:r>
            <a:r>
              <a:rPr lang="en-US" b="1" u="sng" dirty="0"/>
              <a:t> </a:t>
            </a:r>
            <a:r>
              <a:rPr lang="en-US" b="1" u="sng" dirty="0" err="1"/>
              <a:t>bize</a:t>
            </a:r>
            <a:r>
              <a:rPr lang="en-US" b="1" u="sng" dirty="0"/>
              <a:t> </a:t>
            </a:r>
            <a:r>
              <a:rPr lang="en-US" b="1" u="sng" dirty="0" err="1"/>
              <a:t>bircok</a:t>
            </a:r>
            <a:r>
              <a:rPr lang="en-US" b="1" u="sng" dirty="0"/>
              <a:t> method </a:t>
            </a:r>
            <a:r>
              <a:rPr lang="en-US" b="1" u="sng" dirty="0" err="1"/>
              <a:t>sunar</a:t>
            </a:r>
            <a:endParaRPr lang="tr-TR" b="1" u="sng" dirty="0"/>
          </a:p>
        </p:txBody>
      </p:sp>
    </p:spTree>
    <p:extLst>
      <p:ext uri="{BB962C8B-B14F-4D97-AF65-F5344CB8AC3E}">
        <p14:creationId xmlns:p14="http://schemas.microsoft.com/office/powerpoint/2010/main" val="158493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/>
              <a:t>Java'daki Liste </a:t>
            </a:r>
            <a:r>
              <a:rPr lang="tr-TR" b="1" dirty="0" err="1"/>
              <a:t>interface</a:t>
            </a:r>
            <a:r>
              <a:rPr lang="tr-TR" b="1" dirty="0"/>
              <a:t>, sıralı koleksiyonu depolamak için bir yol sağlar. </a:t>
            </a:r>
            <a:r>
              <a:rPr lang="tr-TR" b="1" u="sng" dirty="0">
                <a:hlinkClick r:id="rId2"/>
              </a:rPr>
              <a:t>Collection'ın</a:t>
            </a:r>
            <a:r>
              <a:rPr lang="tr-TR" b="1" dirty="0"/>
              <a:t> bir </a:t>
            </a:r>
            <a:r>
              <a:rPr lang="tr-TR" b="1" dirty="0" err="1"/>
              <a:t>child</a:t>
            </a:r>
            <a:r>
              <a:rPr lang="tr-TR" b="1" dirty="0"/>
              <a:t> </a:t>
            </a:r>
            <a:r>
              <a:rPr lang="tr-TR" b="1" dirty="0" err="1"/>
              <a:t>interface’dir</a:t>
            </a:r>
            <a:r>
              <a:rPr lang="tr-TR" b="1" dirty="0"/>
              <a:t> .</a:t>
            </a:r>
            <a:endParaRPr lang="en-US" b="1" dirty="0"/>
          </a:p>
          <a:p>
            <a:r>
              <a:rPr lang="tr-TR" b="1" dirty="0"/>
              <a:t>Yinelenen değerlerin saklanabileceği sıralı bir </a:t>
            </a:r>
            <a:r>
              <a:rPr lang="tr-TR" b="1" dirty="0" err="1"/>
              <a:t>object</a:t>
            </a:r>
            <a:r>
              <a:rPr lang="tr-TR" b="1" dirty="0"/>
              <a:t> koleksiyonudur.</a:t>
            </a:r>
            <a:endParaRPr lang="en-US" b="1" dirty="0"/>
          </a:p>
          <a:p>
            <a:r>
              <a:rPr lang="tr-TR" b="1" dirty="0" err="1"/>
              <a:t>List</a:t>
            </a:r>
            <a:r>
              <a:rPr lang="tr-TR" b="1" dirty="0"/>
              <a:t> </a:t>
            </a:r>
            <a:r>
              <a:rPr lang="tr-TR" b="1" dirty="0" err="1"/>
              <a:t>interface’in</a:t>
            </a:r>
            <a:r>
              <a:rPr lang="tr-TR" b="1" dirty="0"/>
              <a:t> uygulama </a:t>
            </a:r>
            <a:r>
              <a:rPr lang="tr-TR" b="1" dirty="0" err="1"/>
              <a:t>Class’ları</a:t>
            </a:r>
            <a:r>
              <a:rPr lang="tr-TR" b="1" dirty="0"/>
              <a:t> </a:t>
            </a:r>
            <a:r>
              <a:rPr lang="tr-TR" b="1" dirty="0" err="1"/>
              <a:t>ArrayList</a:t>
            </a:r>
            <a:r>
              <a:rPr lang="tr-TR" b="1" dirty="0"/>
              <a:t>, </a:t>
            </a:r>
            <a:r>
              <a:rPr lang="tr-TR" b="1" dirty="0" err="1"/>
              <a:t>LinkedList</a:t>
            </a:r>
            <a:r>
              <a:rPr lang="tr-TR" b="1" dirty="0"/>
              <a:t>, </a:t>
            </a:r>
            <a:r>
              <a:rPr lang="tr-TR" b="1" dirty="0" err="1"/>
              <a:t>Stack</a:t>
            </a:r>
            <a:r>
              <a:rPr lang="tr-TR" b="1" dirty="0"/>
              <a:t> ve </a:t>
            </a:r>
            <a:r>
              <a:rPr lang="tr-TR" b="1" dirty="0" err="1"/>
              <a:t>Vector'dir</a:t>
            </a:r>
            <a:r>
              <a:rPr lang="tr-TR" b="1" dirty="0"/>
              <a:t>. </a:t>
            </a:r>
            <a:endParaRPr lang="en-US" b="1" dirty="0"/>
          </a:p>
          <a:p>
            <a:r>
              <a:rPr lang="tr-TR" b="1" dirty="0" err="1"/>
              <a:t>ArrayList</a:t>
            </a:r>
            <a:r>
              <a:rPr lang="tr-TR" b="1" dirty="0"/>
              <a:t> ve </a:t>
            </a:r>
            <a:r>
              <a:rPr lang="tr-TR" b="1" dirty="0" err="1"/>
              <a:t>LinkedList</a:t>
            </a:r>
            <a:r>
              <a:rPr lang="tr-TR" b="1" dirty="0"/>
              <a:t>, Java programlamada yaygın olarak kullanılmaktadır. </a:t>
            </a:r>
            <a:endParaRPr lang="en-US" b="1" dirty="0"/>
          </a:p>
          <a:p>
            <a:r>
              <a:rPr lang="tr-TR" b="1" dirty="0" err="1"/>
              <a:t>Vector</a:t>
            </a:r>
            <a:r>
              <a:rPr lang="tr-TR" b="1" dirty="0"/>
              <a:t> </a:t>
            </a:r>
            <a:r>
              <a:rPr lang="tr-TR" b="1" dirty="0" err="1"/>
              <a:t>class’ı</a:t>
            </a:r>
            <a:r>
              <a:rPr lang="tr-TR" b="1" dirty="0"/>
              <a:t>, Java 5'ten beri kullanımdan kaldırılmıştır.</a:t>
            </a:r>
            <a:endParaRPr lang="en-US" b="1" dirty="0"/>
          </a:p>
          <a:p>
            <a:pPr lvl="2"/>
            <a:endParaRPr lang="en-US" b="1" dirty="0"/>
          </a:p>
          <a:p>
            <a:pPr lvl="8"/>
            <a:r>
              <a:rPr lang="en-US" sz="1400" b="1" dirty="0">
                <a:solidFill>
                  <a:schemeClr val="accent1"/>
                </a:solidFill>
              </a:rPr>
              <a:t>                                     </a:t>
            </a:r>
            <a:r>
              <a:rPr lang="en-US" sz="1400" b="1" dirty="0" err="1">
                <a:solidFill>
                  <a:schemeClr val="accent1"/>
                </a:solidFill>
              </a:rPr>
              <a:t>neden</a:t>
            </a:r>
            <a:r>
              <a:rPr lang="en-US" sz="1400" b="1" dirty="0">
                <a:solidFill>
                  <a:schemeClr val="accent1"/>
                </a:solidFill>
              </a:rPr>
              <a:t>  list </a:t>
            </a:r>
            <a:r>
              <a:rPr lang="en-US" sz="1400" b="1" dirty="0" err="1">
                <a:solidFill>
                  <a:schemeClr val="accent1"/>
                </a:solidFill>
              </a:rPr>
              <a:t>objesi</a:t>
            </a:r>
            <a:r>
              <a:rPr lang="en-US" sz="1400" b="1" dirty="0">
                <a:solidFill>
                  <a:schemeClr val="accent1"/>
                </a:solidFill>
              </a:rPr>
              <a:t> </a:t>
            </a:r>
            <a:r>
              <a:rPr lang="en-US" sz="1400" b="1" dirty="0" err="1">
                <a:solidFill>
                  <a:schemeClr val="accent1"/>
                </a:solidFill>
              </a:rPr>
              <a:t>ArrayList</a:t>
            </a:r>
            <a:r>
              <a:rPr lang="en-US" sz="1400" b="1" dirty="0">
                <a:solidFill>
                  <a:schemeClr val="accent1"/>
                </a:solidFill>
              </a:rPr>
              <a:t>  class in</a:t>
            </a:r>
          </a:p>
          <a:p>
            <a:pPr lvl="8"/>
            <a:r>
              <a:rPr lang="en-US" sz="1400" b="1" dirty="0">
                <a:solidFill>
                  <a:schemeClr val="accent1"/>
                </a:solidFill>
              </a:rPr>
              <a:t>                                     </a:t>
            </a:r>
            <a:r>
              <a:rPr lang="en-US" sz="1400" b="1" dirty="0" err="1">
                <a:solidFill>
                  <a:schemeClr val="accent1"/>
                </a:solidFill>
              </a:rPr>
              <a:t>indan</a:t>
            </a:r>
            <a:r>
              <a:rPr lang="en-US" sz="1400" b="1" dirty="0">
                <a:solidFill>
                  <a:schemeClr val="accent1"/>
                </a:solidFill>
              </a:rPr>
              <a:t> create </a:t>
            </a:r>
            <a:r>
              <a:rPr lang="en-US" sz="1400" b="1" dirty="0" err="1">
                <a:solidFill>
                  <a:schemeClr val="accent1"/>
                </a:solidFill>
              </a:rPr>
              <a:t>edildi</a:t>
            </a:r>
            <a:r>
              <a:rPr lang="en-US" sz="1400" b="1" dirty="0">
                <a:solidFill>
                  <a:schemeClr val="accent1"/>
                </a:solidFill>
              </a:rPr>
              <a:t>  </a:t>
            </a:r>
            <a:endParaRPr lang="tr-TR" sz="1400" b="1" dirty="0">
              <a:solidFill>
                <a:schemeClr val="accent1"/>
              </a:solidFill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5</a:t>
            </a:fld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6480" y="2121218"/>
            <a:ext cx="2057400" cy="216122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C:\Users\pc\Desktop\TASKS\2022-11-03 21_14_09-Windo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6481" y="4367212"/>
            <a:ext cx="2180748" cy="117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Düz Ok Bağlayıcısı 5"/>
          <p:cNvCxnSpPr/>
          <p:nvPr/>
        </p:nvCxnSpPr>
        <p:spPr>
          <a:xfrm>
            <a:off x="5673090" y="5850255"/>
            <a:ext cx="110871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4" y="5288280"/>
            <a:ext cx="4253865" cy="102107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735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Array</a:t>
            </a:r>
            <a:r>
              <a:rPr lang="tr-TR" sz="4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endParaRPr lang="tr-TR" sz="4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java.util</a:t>
            </a:r>
            <a:r>
              <a:rPr lang="tr-TR" b="1" dirty="0"/>
              <a:t> </a:t>
            </a:r>
            <a:r>
              <a:rPr lang="en-US" b="1" dirty="0"/>
              <a:t> </a:t>
            </a:r>
            <a:r>
              <a:rPr lang="tr-TR" b="1" dirty="0"/>
              <a:t>pakette bulunabilen </a:t>
            </a:r>
            <a:r>
              <a:rPr lang="tr-TR" b="1" dirty="0" err="1"/>
              <a:t>ArrayList</a:t>
            </a:r>
            <a:r>
              <a:rPr lang="en-US" b="1" dirty="0"/>
              <a:t> </a:t>
            </a:r>
            <a:r>
              <a:rPr lang="tr-TR" b="1" dirty="0"/>
              <a:t>yeniden boyutlandırılabilir bir </a:t>
            </a:r>
            <a:r>
              <a:rPr lang="tr-TR" b="1" dirty="0">
                <a:hlinkClick r:id="rId2"/>
              </a:rPr>
              <a:t>dizidir</a:t>
            </a:r>
            <a:endParaRPr lang="en-US" b="1" dirty="0">
              <a:hlinkClick r:id="rId2"/>
            </a:endParaRPr>
          </a:p>
          <a:p>
            <a:r>
              <a:rPr lang="tr-TR" b="1" dirty="0"/>
              <a:t>Java'daki </a:t>
            </a:r>
            <a:r>
              <a:rPr lang="en-US" b="1" dirty="0"/>
              <a:t> </a:t>
            </a:r>
            <a:r>
              <a:rPr lang="tr-TR" b="1" dirty="0"/>
              <a:t>bir </a:t>
            </a:r>
            <a:r>
              <a:rPr lang="en-US" b="1" dirty="0"/>
              <a:t>Array </a:t>
            </a:r>
            <a:r>
              <a:rPr lang="tr-TR" b="1" dirty="0"/>
              <a:t>ile </a:t>
            </a:r>
            <a:r>
              <a:rPr lang="tr-TR" b="1" dirty="0" err="1"/>
              <a:t>ArrayList</a:t>
            </a:r>
            <a:r>
              <a:rPr lang="en-US" b="1" dirty="0"/>
              <a:t> </a:t>
            </a:r>
            <a:r>
              <a:rPr lang="tr-TR" b="1" dirty="0"/>
              <a:t> arasındaki fark, bir </a:t>
            </a:r>
            <a:r>
              <a:rPr lang="en-US" b="1" dirty="0" err="1"/>
              <a:t>Array’in</a:t>
            </a:r>
            <a:r>
              <a:rPr lang="en-US" b="1" dirty="0"/>
              <a:t> </a:t>
            </a:r>
            <a:r>
              <a:rPr lang="tr-TR" b="1" dirty="0"/>
              <a:t>boyutunun değiştirilememesidir</a:t>
            </a:r>
            <a:r>
              <a:rPr lang="en-US" b="1" dirty="0"/>
              <a:t>.</a:t>
            </a:r>
          </a:p>
          <a:p>
            <a:r>
              <a:rPr lang="tr-TR" b="1" dirty="0"/>
              <a:t>bir </a:t>
            </a:r>
            <a:r>
              <a:rPr lang="en-US" b="1" dirty="0" err="1"/>
              <a:t>Array’e</a:t>
            </a:r>
            <a:r>
              <a:rPr lang="en-US" b="1" dirty="0"/>
              <a:t> </a:t>
            </a:r>
            <a:r>
              <a:rPr lang="tr-TR" b="1" dirty="0"/>
              <a:t>eleman eklemek veya diziden eleman çıkarmak istiyorsanız, yeni bir tane oluşturmanız gerekir</a:t>
            </a:r>
            <a:endParaRPr lang="en-US" b="1" dirty="0"/>
          </a:p>
          <a:p>
            <a:r>
              <a:rPr lang="tr-TR" b="1" dirty="0" err="1"/>
              <a:t>ArrayList</a:t>
            </a:r>
            <a:r>
              <a:rPr lang="en-US" b="1" dirty="0"/>
              <a:t> </a:t>
            </a:r>
            <a:r>
              <a:rPr lang="tr-TR" b="1" dirty="0"/>
              <a:t>Öğeler istediğiniz zaman eklenebilir ve çıkarılabilir</a:t>
            </a:r>
            <a:endParaRPr lang="en-US" b="1" dirty="0"/>
          </a:p>
          <a:p>
            <a:r>
              <a:rPr lang="en-US" b="1" dirty="0" err="1"/>
              <a:t>Eleman</a:t>
            </a:r>
            <a:r>
              <a:rPr lang="en-US" b="1" dirty="0"/>
              <a:t> </a:t>
            </a:r>
            <a:r>
              <a:rPr lang="en-US" b="1" dirty="0" err="1"/>
              <a:t>arama</a:t>
            </a:r>
            <a:r>
              <a:rPr lang="en-US" b="1" dirty="0"/>
              <a:t> </a:t>
            </a:r>
            <a:r>
              <a:rPr lang="en-US" b="1" dirty="0" err="1"/>
              <a:t>hizlidir</a:t>
            </a:r>
            <a:r>
              <a:rPr lang="en-US" b="1" dirty="0"/>
              <a:t> index </a:t>
            </a:r>
            <a:r>
              <a:rPr lang="en-US" b="1" dirty="0" err="1"/>
              <a:t>yapisi</a:t>
            </a:r>
            <a:r>
              <a:rPr lang="en-US" b="1" dirty="0"/>
              <a:t> </a:t>
            </a:r>
            <a:r>
              <a:rPr lang="en-US" b="1" dirty="0" err="1"/>
              <a:t>oldugu</a:t>
            </a:r>
            <a:r>
              <a:rPr lang="en-US" b="1" dirty="0"/>
              <a:t> </a:t>
            </a:r>
            <a:r>
              <a:rPr lang="en-US" b="1" dirty="0" err="1"/>
              <a:t>icin</a:t>
            </a:r>
            <a:r>
              <a:rPr lang="en-US" b="1" dirty="0"/>
              <a:t>.</a:t>
            </a:r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6</a:t>
            </a:fld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" y="5273041"/>
            <a:ext cx="5882640" cy="158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570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Array</a:t>
            </a:r>
            <a:r>
              <a:rPr lang="tr-TR" sz="4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endParaRPr lang="tr-TR" sz="400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7</a:t>
            </a:fld>
            <a:endParaRPr lang="en-GB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" y="2439896"/>
            <a:ext cx="6309359" cy="1690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743200" y="4270114"/>
            <a:ext cx="7147560" cy="597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tr-TR" b="1" dirty="0"/>
              <a:t>öğe eklemek için </a:t>
            </a:r>
            <a:r>
              <a:rPr lang="tr-TR" b="1" dirty="0" err="1"/>
              <a:t>ArrayList</a:t>
            </a:r>
            <a:r>
              <a:rPr lang="en-US" b="1" dirty="0"/>
              <a:t> in </a:t>
            </a:r>
            <a:r>
              <a:rPr lang="tr-TR" b="1" dirty="0" err="1"/>
              <a:t>add</a:t>
            </a:r>
            <a:r>
              <a:rPr lang="tr-TR" b="1" dirty="0"/>
              <a:t>()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/>
              <a:t>methodunu</a:t>
            </a:r>
            <a:r>
              <a:rPr lang="tr-TR" b="1" dirty="0"/>
              <a:t> kullanın :</a:t>
            </a:r>
            <a:endParaRPr kumimoji="0" lang="tr-T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280" y="4867612"/>
            <a:ext cx="3444239" cy="1396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125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Array</a:t>
            </a:r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132580"/>
          </a:xfrm>
        </p:spPr>
        <p:txBody>
          <a:bodyPr/>
          <a:lstStyle/>
          <a:p>
            <a:r>
              <a:rPr lang="tr-TR" b="1" dirty="0"/>
              <a:t>içindeki bir öğeye erişmek </a:t>
            </a:r>
            <a:r>
              <a:rPr lang="en-US" b="1" dirty="0"/>
              <a:t>i</a:t>
            </a:r>
            <a:r>
              <a:rPr lang="tr-TR" b="1" dirty="0" err="1"/>
              <a:t>çin</a:t>
            </a:r>
            <a:r>
              <a:rPr lang="tr-TR" b="1" dirty="0"/>
              <a:t>  </a:t>
            </a:r>
            <a:r>
              <a:rPr lang="tr-TR" b="1" dirty="0" err="1"/>
              <a:t>ArrayList</a:t>
            </a:r>
            <a:r>
              <a:rPr lang="en-US" b="1" dirty="0"/>
              <a:t> in </a:t>
            </a:r>
            <a:r>
              <a:rPr lang="tr-TR" b="1" dirty="0" err="1"/>
              <a:t>get</a:t>
            </a:r>
            <a:r>
              <a:rPr lang="tr-TR" b="1" dirty="0"/>
              <a:t>()</a:t>
            </a:r>
            <a:r>
              <a:rPr lang="en-US" b="1" dirty="0"/>
              <a:t> </a:t>
            </a:r>
            <a:r>
              <a:rPr lang="tr-TR" b="1" dirty="0"/>
              <a:t>yöntemi </a:t>
            </a:r>
            <a:r>
              <a:rPr lang="tr-TR" b="1" dirty="0" err="1"/>
              <a:t>kullanı</a:t>
            </a:r>
            <a:r>
              <a:rPr lang="en-US" b="1" dirty="0" err="1"/>
              <a:t>lir</a:t>
            </a:r>
            <a:r>
              <a:rPr lang="en-US" b="1" dirty="0"/>
              <a:t> get in </a:t>
            </a:r>
            <a:r>
              <a:rPr lang="en-US" b="1" dirty="0" err="1"/>
              <a:t>icine</a:t>
            </a:r>
            <a:r>
              <a:rPr lang="en-US" b="1" dirty="0"/>
              <a:t> </a:t>
            </a:r>
            <a:r>
              <a:rPr lang="en-US" b="1" dirty="0" err="1"/>
              <a:t>erismek</a:t>
            </a:r>
            <a:r>
              <a:rPr lang="en-US" b="1" dirty="0"/>
              <a:t> </a:t>
            </a:r>
            <a:r>
              <a:rPr lang="en-US" b="1" dirty="0" err="1"/>
              <a:t>istediginiz</a:t>
            </a:r>
            <a:r>
              <a:rPr lang="en-US" b="1" dirty="0"/>
              <a:t> </a:t>
            </a:r>
            <a:r>
              <a:rPr lang="en-US" b="1" dirty="0" err="1"/>
              <a:t>elemanin</a:t>
            </a:r>
            <a:r>
              <a:rPr lang="en-US" b="1" dirty="0"/>
              <a:t> index </a:t>
            </a:r>
            <a:r>
              <a:rPr lang="en-US" b="1" dirty="0" err="1"/>
              <a:t>numarasi</a:t>
            </a:r>
            <a:r>
              <a:rPr lang="en-US" b="1" dirty="0"/>
              <a:t> </a:t>
            </a:r>
            <a:r>
              <a:rPr lang="en-US" b="1" dirty="0" err="1"/>
              <a:t>yazilir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tr-TR" b="1" dirty="0">
                <a:solidFill>
                  <a:srgbClr val="00B0F0"/>
                </a:solidFill>
              </a:rPr>
              <a:t>Unutmayın</a:t>
            </a:r>
            <a:r>
              <a:rPr lang="tr-TR" b="1" dirty="0"/>
              <a:t>: </a:t>
            </a:r>
            <a:r>
              <a:rPr lang="en-US" b="1" dirty="0"/>
              <a:t>Array </a:t>
            </a:r>
            <a:r>
              <a:rPr lang="tr-TR" b="1" dirty="0"/>
              <a:t>dizinleri 0 ile başlar: [0] ilk öğedir. [1] ikinci öğedir, vb.</a:t>
            </a:r>
            <a:endParaRPr lang="en-US" b="1" dirty="0"/>
          </a:p>
          <a:p>
            <a:r>
              <a:rPr lang="tr-TR" b="1" dirty="0"/>
              <a:t>Bir öğeyi değiştirmek için set()</a:t>
            </a:r>
            <a:r>
              <a:rPr lang="en-US" b="1" dirty="0"/>
              <a:t> </a:t>
            </a:r>
            <a:r>
              <a:rPr lang="tr-TR" b="1" dirty="0"/>
              <a:t>yöntemi </a:t>
            </a:r>
            <a:r>
              <a:rPr lang="tr-TR" b="1" dirty="0" err="1"/>
              <a:t>kullanı</a:t>
            </a:r>
            <a:r>
              <a:rPr lang="en-US" b="1" dirty="0" err="1"/>
              <a:t>lir</a:t>
            </a:r>
            <a:r>
              <a:rPr lang="en-US" b="1" dirty="0"/>
              <a:t>:</a:t>
            </a:r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8</a:t>
            </a:fld>
            <a:endParaRPr lang="en-GB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340" y="3271833"/>
            <a:ext cx="2910840" cy="114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340" y="5426393"/>
            <a:ext cx="2910840" cy="1203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048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Array</a:t>
            </a:r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Bir öğeyi kaldırmak için </a:t>
            </a:r>
            <a:r>
              <a:rPr lang="tr-TR" b="1" dirty="0" err="1"/>
              <a:t>remove</a:t>
            </a:r>
            <a:r>
              <a:rPr lang="tr-TR" b="1" dirty="0"/>
              <a:t>()</a:t>
            </a:r>
            <a:r>
              <a:rPr lang="en-US" b="1" dirty="0"/>
              <a:t> </a:t>
            </a:r>
            <a:r>
              <a:rPr lang="tr-TR" b="1" dirty="0"/>
              <a:t>yöntemi </a:t>
            </a:r>
            <a:r>
              <a:rPr lang="tr-TR" b="1" dirty="0" err="1"/>
              <a:t>kullanı</a:t>
            </a:r>
            <a:r>
              <a:rPr lang="en-US" b="1" dirty="0" err="1"/>
              <a:t>lir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tr-TR" b="1" dirty="0"/>
              <a:t>içindeki tüm öğeleri kaldırmak için </a:t>
            </a:r>
            <a:r>
              <a:rPr lang="tr-TR" b="1" dirty="0" err="1"/>
              <a:t>clear</a:t>
            </a:r>
            <a:r>
              <a:rPr lang="tr-TR" b="1" dirty="0"/>
              <a:t>()  yöntemi </a:t>
            </a:r>
            <a:r>
              <a:rPr lang="tr-TR" b="1" dirty="0" err="1"/>
              <a:t>kullanı</a:t>
            </a:r>
            <a:r>
              <a:rPr lang="en-US" b="1" dirty="0" err="1"/>
              <a:t>lir</a:t>
            </a:r>
            <a:r>
              <a:rPr lang="tr-TR" b="1" dirty="0"/>
              <a:t>: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9</a:t>
            </a:fld>
            <a:endParaRPr lang="en-GB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3126105"/>
            <a:ext cx="2804159" cy="1080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0" y="4934903"/>
            <a:ext cx="2819399" cy="1145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2747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Array</a:t>
            </a:r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Bir </a:t>
            </a:r>
            <a:r>
              <a:rPr lang="tr-TR" b="1" dirty="0" err="1"/>
              <a:t>ArrayList'in</a:t>
            </a:r>
            <a:r>
              <a:rPr lang="tr-TR" b="1" dirty="0"/>
              <a:t> kaç öğeye sahip olduğunu bulmak için size</a:t>
            </a:r>
            <a:r>
              <a:rPr lang="en-US" b="1" dirty="0"/>
              <a:t>() </a:t>
            </a:r>
            <a:r>
              <a:rPr lang="tr-TR" b="1" dirty="0"/>
              <a:t>yöntemi</a:t>
            </a:r>
            <a:r>
              <a:rPr lang="en-US" b="1" dirty="0"/>
              <a:t> </a:t>
            </a:r>
            <a:r>
              <a:rPr lang="en-US" b="1" dirty="0" err="1"/>
              <a:t>kullanilir</a:t>
            </a:r>
            <a:r>
              <a:rPr lang="en-US" b="1" dirty="0"/>
              <a:t>: </a:t>
            </a:r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10</a:t>
            </a:fld>
            <a:endParaRPr lang="en-GB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504" y="3291840"/>
            <a:ext cx="2299335" cy="1021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645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>
                <a:latin typeface="Arial Rounded MT Bold" pitchFamily="34" charset="0"/>
              </a:rPr>
              <a:t>Bir </a:t>
            </a:r>
            <a:r>
              <a:rPr lang="tr-TR" sz="4000" b="1" dirty="0" err="1">
                <a:latin typeface="Arial Rounded MT Bold" pitchFamily="34" charset="0"/>
              </a:rPr>
              <a:t>ArrayList</a:t>
            </a:r>
            <a:r>
              <a:rPr lang="tr-TR" sz="4000" b="1" dirty="0">
                <a:latin typeface="Arial Rounded MT Bold" pitchFamily="34" charset="0"/>
              </a:rPr>
              <a:t> Üzerinde </a:t>
            </a:r>
            <a:r>
              <a:rPr lang="en-US" sz="4000" b="1" dirty="0">
                <a:latin typeface="Arial Rounded MT Bold" pitchFamily="34" charset="0"/>
              </a:rPr>
              <a:t>Loop</a:t>
            </a:r>
            <a:endParaRPr lang="tr-TR" sz="4000" b="1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ArrayList</a:t>
            </a:r>
            <a:r>
              <a:rPr lang="en-US" b="1" dirty="0"/>
              <a:t> </a:t>
            </a:r>
            <a:r>
              <a:rPr lang="en-US" b="1" dirty="0" err="1"/>
              <a:t>icinde</a:t>
            </a:r>
            <a:r>
              <a:rPr lang="en-US" b="1" dirty="0"/>
              <a:t> </a:t>
            </a:r>
            <a:r>
              <a:rPr lang="tr-TR" b="1" dirty="0"/>
              <a:t> 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loop</a:t>
            </a:r>
            <a:r>
              <a:rPr lang="tr-TR" b="1" dirty="0"/>
              <a:t> 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tr-TR" b="1" dirty="0"/>
              <a:t>öğeler arasında </a:t>
            </a:r>
            <a:r>
              <a:rPr lang="tr-TR" b="1" dirty="0" err="1"/>
              <a:t>dolaşı</a:t>
            </a:r>
            <a:r>
              <a:rPr lang="en-US" b="1" dirty="0" err="1"/>
              <a:t>labilir</a:t>
            </a:r>
            <a:r>
              <a:rPr lang="en-US" b="1" dirty="0"/>
              <a:t>.</a:t>
            </a:r>
            <a:r>
              <a:rPr lang="tr-TR" b="1" dirty="0"/>
              <a:t> </a:t>
            </a:r>
            <a:r>
              <a:rPr lang="en-US" b="1" dirty="0"/>
              <a:t>D</a:t>
            </a:r>
            <a:r>
              <a:rPr lang="tr-TR" b="1" dirty="0"/>
              <a:t>öngünün kaç kez çalıştırılacağını belirtmek için </a:t>
            </a:r>
            <a:r>
              <a:rPr lang="en-US" b="1" dirty="0"/>
              <a:t>size() </a:t>
            </a:r>
            <a:r>
              <a:rPr lang="en-US" b="1" dirty="0" err="1"/>
              <a:t>methodu</a:t>
            </a:r>
            <a:r>
              <a:rPr lang="en-US" b="1" dirty="0"/>
              <a:t> </a:t>
            </a:r>
            <a:r>
              <a:rPr lang="tr-TR" b="1" dirty="0" err="1"/>
              <a:t>kullanı</a:t>
            </a:r>
            <a:r>
              <a:rPr lang="en-US" b="1" dirty="0" err="1"/>
              <a:t>labilir</a:t>
            </a:r>
            <a:r>
              <a:rPr lang="en-US" b="1" dirty="0"/>
              <a:t> :</a:t>
            </a:r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11</a:t>
            </a:fld>
            <a:endParaRPr lang="en-GB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508" y="3444241"/>
            <a:ext cx="5997892" cy="21031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8553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dirty="0">
                <a:latin typeface="Arial Rounded MT Bold" pitchFamily="34" charset="0"/>
              </a:rPr>
              <a:t>Diğer çeşitler</a:t>
            </a:r>
            <a:r>
              <a:rPr lang="en-US" sz="4000" dirty="0">
                <a:latin typeface="Arial Rounded MT Bold" pitchFamily="34" charset="0"/>
              </a:rPr>
              <a:t>(</a:t>
            </a:r>
            <a:r>
              <a:rPr lang="en-US" sz="4000" dirty="0" err="1">
                <a:latin typeface="Arial Rounded MT Bold" pitchFamily="34" charset="0"/>
              </a:rPr>
              <a:t>int,char</a:t>
            </a:r>
            <a:r>
              <a:rPr lang="en-US" sz="4000" dirty="0">
                <a:latin typeface="Arial Rounded MT Bold" pitchFamily="34" charset="0"/>
              </a:rPr>
              <a:t>…)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4" y="2603500"/>
            <a:ext cx="9132046" cy="3416300"/>
          </a:xfrm>
        </p:spPr>
        <p:txBody>
          <a:bodyPr/>
          <a:lstStyle/>
          <a:p>
            <a:r>
              <a:rPr lang="tr-TR" b="1" dirty="0" err="1"/>
              <a:t>ArrayList'teki</a:t>
            </a:r>
            <a:r>
              <a:rPr lang="tr-TR" b="1" dirty="0"/>
              <a:t> öğeler aslında nesnelerdir.</a:t>
            </a:r>
            <a:endParaRPr lang="en-US" b="1" dirty="0"/>
          </a:p>
          <a:p>
            <a:r>
              <a:rPr lang="tr-TR" b="1" dirty="0"/>
              <a:t>Yukarıdaki örneklerde "</a:t>
            </a:r>
            <a:r>
              <a:rPr lang="tr-TR" b="1" dirty="0" err="1">
                <a:solidFill>
                  <a:srgbClr val="00B0F0"/>
                </a:solidFill>
              </a:rPr>
              <a:t>String</a:t>
            </a:r>
            <a:r>
              <a:rPr lang="tr-TR" b="1" dirty="0"/>
              <a:t>" türünde öğeler (nesneler) oluşturduk.</a:t>
            </a:r>
            <a:endParaRPr lang="en-US" b="1" dirty="0"/>
          </a:p>
          <a:p>
            <a:r>
              <a:rPr lang="tr-TR" b="1" dirty="0"/>
              <a:t>Java'daki bir </a:t>
            </a:r>
            <a:r>
              <a:rPr lang="tr-TR" b="1" dirty="0" err="1">
                <a:solidFill>
                  <a:srgbClr val="00B0F0"/>
                </a:solidFill>
              </a:rPr>
              <a:t>String'in</a:t>
            </a:r>
            <a:r>
              <a:rPr lang="tr-TR" b="1" dirty="0">
                <a:solidFill>
                  <a:srgbClr val="00B0F0"/>
                </a:solidFill>
              </a:rPr>
              <a:t> </a:t>
            </a:r>
            <a:r>
              <a:rPr lang="tr-TR" b="1" dirty="0"/>
              <a:t>bir nesne olduğunu (ilkel bir tür değil) unutmayın</a:t>
            </a:r>
            <a:endParaRPr lang="en-US" b="1" dirty="0"/>
          </a:p>
          <a:p>
            <a:r>
              <a:rPr lang="tr-TR" b="1" dirty="0" err="1"/>
              <a:t>int</a:t>
            </a:r>
            <a:r>
              <a:rPr lang="tr-TR" b="1" dirty="0"/>
              <a:t> gibi diğer türleri kullanmak için eşdeğer bir </a:t>
            </a:r>
            <a:r>
              <a:rPr lang="en-US" b="1" dirty="0">
                <a:solidFill>
                  <a:srgbClr val="00B0F0"/>
                </a:solidFill>
              </a:rPr>
              <a:t>Wrapper</a:t>
            </a:r>
            <a:r>
              <a:rPr lang="en-US" b="1" dirty="0"/>
              <a:t> </a:t>
            </a:r>
            <a:r>
              <a:rPr lang="en-US" b="1" dirty="0">
                <a:solidFill>
                  <a:srgbClr val="00B0F0"/>
                </a:solidFill>
              </a:rPr>
              <a:t>Class</a:t>
            </a:r>
            <a:r>
              <a:rPr lang="tr-TR" b="1" dirty="0"/>
              <a:t> belirtmelisiniz</a:t>
            </a:r>
            <a:r>
              <a:rPr lang="en-US" b="1" dirty="0"/>
              <a:t>.</a:t>
            </a:r>
          </a:p>
          <a:p>
            <a:pPr algn="ctr"/>
            <a:r>
              <a:rPr lang="tr-TR" b="1" dirty="0">
                <a:solidFill>
                  <a:srgbClr val="00B0F0"/>
                </a:solidFill>
              </a:rPr>
              <a:t>Numaraları saklamak için bir tane oluşturun </a:t>
            </a:r>
            <a:r>
              <a:rPr lang="tr-TR" b="1" dirty="0" err="1">
                <a:solidFill>
                  <a:srgbClr val="00B0F0"/>
                </a:solidFill>
              </a:rPr>
              <a:t>ArrayList</a:t>
            </a:r>
            <a:r>
              <a:rPr lang="tr-TR" b="1" dirty="0">
                <a:solidFill>
                  <a:srgbClr val="00B0F0"/>
                </a:solidFill>
              </a:rPr>
              <a:t>(türünün öğelerini ekleyin </a:t>
            </a:r>
            <a:r>
              <a:rPr lang="tr-TR" b="1" dirty="0" err="1">
                <a:solidFill>
                  <a:srgbClr val="00B0F0"/>
                </a:solidFill>
              </a:rPr>
              <a:t>Integer</a:t>
            </a:r>
            <a:endParaRPr lang="en-US" dirty="0"/>
          </a:p>
          <a:p>
            <a:pPr algn="ctr"/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12</a:t>
            </a:fld>
            <a:endParaRPr lang="en-GB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480" y="4862512"/>
            <a:ext cx="6797040" cy="18888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3460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13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615A4E-6E22-5CB4-FB14-C7B3D7C8A099}"/>
              </a:ext>
            </a:extLst>
          </p:cNvPr>
          <p:cNvSpPr txBox="1">
            <a:spLocks/>
          </p:cNvSpPr>
          <p:nvPr/>
        </p:nvSpPr>
        <p:spPr bwMode="gray">
          <a:xfrm>
            <a:off x="676758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Linked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46507-AD7E-90AD-A62A-01A1C12680DA}"/>
              </a:ext>
            </a:extLst>
          </p:cNvPr>
          <p:cNvSpPr txBox="1"/>
          <p:nvPr/>
        </p:nvSpPr>
        <p:spPr>
          <a:xfrm>
            <a:off x="233843" y="4016861"/>
            <a:ext cx="113155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Linked List (Class)</a:t>
            </a:r>
            <a:br>
              <a:rPr lang="tr-TR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1)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İ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her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zaman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head’dir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2)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Son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(tail) null point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eder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nb-NO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3) 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Her eleman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 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inde </a:t>
            </a:r>
            <a:r>
              <a:rPr lang="nb-NO" sz="1800" b="1" i="0" u="none" strike="noStrike" baseline="0" dirty="0">
                <a:solidFill>
                  <a:srgbClr val="0076B9"/>
                </a:solidFill>
                <a:latin typeface="Bahnschrift" panose="020B0502040204020203" pitchFamily="34" charset="0"/>
              </a:rPr>
              <a:t>data 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ve </a:t>
            </a:r>
            <a:r>
              <a:rPr lang="nb-NO" sz="1800" b="1" i="0" u="none" strike="noStrike" baseline="0" dirty="0">
                <a:solidFill>
                  <a:srgbClr val="0076B9"/>
                </a:solidFill>
                <a:latin typeface="Bahnschrift" panose="020B0502040204020203" pitchFamily="34" charset="0"/>
              </a:rPr>
              <a:t>next 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k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sm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olmak 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zere iki k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m vard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4)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m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76B9"/>
                </a:solidFill>
                <a:latin typeface="Bahnschrift" panose="020B0502040204020203" pitchFamily="34" charset="0"/>
              </a:rPr>
              <a:t>next’ler</a:t>
            </a:r>
            <a:r>
              <a:rPr lang="en-GB" sz="1800" b="1" i="0" u="none" strike="noStrike" baseline="0" dirty="0">
                <a:solidFill>
                  <a:srgbClr val="0076B9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larak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birbirine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ba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nn-NO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5) </a:t>
            </a:r>
            <a:r>
              <a:rPr lang="nn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Her eleman </a:t>
            </a:r>
            <a:r>
              <a:rPr lang="nn-NO" sz="1800" b="1" i="0" u="none" strike="noStrike" baseline="0" dirty="0">
                <a:solidFill>
                  <a:srgbClr val="0076B9"/>
                </a:solidFill>
                <a:latin typeface="Bahnschrift" panose="020B0502040204020203" pitchFamily="34" charset="0"/>
              </a:rPr>
              <a:t>node </a:t>
            </a:r>
            <a:r>
              <a:rPr lang="nn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olarak adland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n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n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l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n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7)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Pointer yap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ndan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dolay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ula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mada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yava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rlar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Silmede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eklemede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hizlidirlar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</a:t>
            </a:r>
            <a:endParaRPr lang="en-GB" sz="1800" b="0" i="0" u="none" strike="noStrike" baseline="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59" y="2168450"/>
            <a:ext cx="8863482" cy="17461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91504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Array </a:t>
            </a:r>
            <a:r>
              <a:rPr lang="en-US" sz="4000" b="1" dirty="0" err="1">
                <a:latin typeface="Arial Rounded MT Bold" pitchFamily="34" charset="0"/>
              </a:rPr>
              <a:t>ve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LinkedList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fark</a:t>
            </a:r>
            <a:endParaRPr lang="tr-TR" sz="4000" b="1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Array</a:t>
            </a:r>
            <a:r>
              <a:rPr lang="en-US" b="1" dirty="0"/>
              <a:t> in </a:t>
            </a:r>
            <a:r>
              <a:rPr lang="en-US" b="1" dirty="0" err="1"/>
              <a:t>eleman</a:t>
            </a:r>
            <a:r>
              <a:rPr lang="en-US" b="1" dirty="0"/>
              <a:t> </a:t>
            </a:r>
            <a:r>
              <a:rPr lang="en-US" b="1" dirty="0" err="1"/>
              <a:t>sayisi</a:t>
            </a:r>
            <a:r>
              <a:rPr lang="en-US" b="1" dirty="0"/>
              <a:t> </a:t>
            </a:r>
            <a:r>
              <a:rPr lang="en-US" b="1" dirty="0" err="1"/>
              <a:t>sabittir</a:t>
            </a:r>
            <a:r>
              <a:rPr lang="en-US" b="1" dirty="0"/>
              <a:t> </a:t>
            </a:r>
            <a:r>
              <a:rPr lang="en-US" b="1" dirty="0" err="1"/>
              <a:t>artmaz</a:t>
            </a:r>
            <a:r>
              <a:rPr lang="en-US" b="1" dirty="0"/>
              <a:t> </a:t>
            </a:r>
            <a:r>
              <a:rPr lang="en-US" b="1" dirty="0" err="1"/>
              <a:t>azalmaz</a:t>
            </a:r>
            <a:endParaRPr lang="en-US" b="1" dirty="0"/>
          </a:p>
          <a:p>
            <a:r>
              <a:rPr lang="en-US" b="1" dirty="0" err="1">
                <a:solidFill>
                  <a:srgbClr val="00B0F0"/>
                </a:solidFill>
              </a:rPr>
              <a:t>LinkedList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 err="1"/>
              <a:t>esnektir</a:t>
            </a:r>
            <a:r>
              <a:rPr lang="en-US" b="1" dirty="0"/>
              <a:t> </a:t>
            </a:r>
            <a:r>
              <a:rPr lang="en-US" b="1" dirty="0" err="1"/>
              <a:t>artabildigi</a:t>
            </a:r>
            <a:r>
              <a:rPr lang="en-US" b="1" dirty="0"/>
              <a:t> </a:t>
            </a:r>
            <a:r>
              <a:rPr lang="en-US" b="1" dirty="0" err="1"/>
              <a:t>gibi</a:t>
            </a:r>
            <a:r>
              <a:rPr lang="en-US" b="1" dirty="0"/>
              <a:t> </a:t>
            </a:r>
            <a:r>
              <a:rPr lang="en-US" b="1" dirty="0" err="1"/>
              <a:t>azala</a:t>
            </a:r>
            <a:r>
              <a:rPr lang="en-US" b="1" dirty="0"/>
              <a:t> da </a:t>
            </a:r>
            <a:r>
              <a:rPr lang="en-US" b="1" dirty="0" err="1"/>
              <a:t>bilir</a:t>
            </a:r>
            <a:r>
              <a:rPr lang="en-US" b="1" dirty="0"/>
              <a:t>…</a:t>
            </a:r>
          </a:p>
          <a:p>
            <a:r>
              <a:rPr lang="en-US" b="1" dirty="0"/>
              <a:t>(</a:t>
            </a:r>
            <a:r>
              <a:rPr lang="en-US" b="1" dirty="0">
                <a:solidFill>
                  <a:srgbClr val="00B0F0"/>
                </a:solidFill>
              </a:rPr>
              <a:t>NOT</a:t>
            </a:r>
            <a:r>
              <a:rPr lang="en-US" b="1" dirty="0"/>
              <a:t>) : </a:t>
            </a:r>
            <a:r>
              <a:rPr lang="en-US" b="1" dirty="0" err="1"/>
              <a:t>LinkedList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ArrayList</a:t>
            </a:r>
            <a:r>
              <a:rPr lang="en-US" b="1" dirty="0"/>
              <a:t> </a:t>
            </a:r>
            <a:r>
              <a:rPr lang="en-US" b="1" dirty="0" err="1"/>
              <a:t>hemen</a:t>
            </a:r>
            <a:r>
              <a:rPr lang="en-US" b="1" dirty="0"/>
              <a:t> </a:t>
            </a:r>
            <a:r>
              <a:rPr lang="en-US" b="1" dirty="0" err="1"/>
              <a:t>hemen</a:t>
            </a:r>
            <a:r>
              <a:rPr lang="en-US" b="1" dirty="0"/>
              <a:t> </a:t>
            </a:r>
            <a:r>
              <a:rPr lang="en-US" b="1" dirty="0" err="1"/>
              <a:t>aynidir</a:t>
            </a:r>
            <a:r>
              <a:rPr lang="en-US" b="1" dirty="0"/>
              <a:t>.</a:t>
            </a:r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14</a:t>
            </a:fld>
            <a:endParaRPr lang="en-GB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283" y="4099560"/>
            <a:ext cx="7152957" cy="2545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3877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15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615A4E-6E22-5CB4-FB14-C7B3D7C8A099}"/>
              </a:ext>
            </a:extLst>
          </p:cNvPr>
          <p:cNvSpPr txBox="1">
            <a:spLocks/>
          </p:cNvSpPr>
          <p:nvPr/>
        </p:nvSpPr>
        <p:spPr bwMode="gray">
          <a:xfrm>
            <a:off x="676758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Linked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46507-AD7E-90AD-A62A-01A1C12680DA}"/>
              </a:ext>
            </a:extLst>
          </p:cNvPr>
          <p:cNvSpPr txBox="1"/>
          <p:nvPr/>
        </p:nvSpPr>
        <p:spPr>
          <a:xfrm>
            <a:off x="369839" y="2353357"/>
            <a:ext cx="647291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Linked List,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2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interface’in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child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class’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Obje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olu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tururken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data 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olarak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istedi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imiz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parent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interface’i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se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ebilir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o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interface’deki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zellikleri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kullanabiliriz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b="1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Data 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olarak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LinkedList se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imizde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de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ayn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method’lar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kullanabiliriz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, 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nk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LinkedList concrete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class’d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parent’i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interface’lerdeki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m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method’lar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override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etmek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zorundad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endParaRPr lang="en-US" sz="1800" b="1" i="0" u="none" strike="noStrike" baseline="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***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LinkedList 2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interface’i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implement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etti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her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ikisinin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zelliklerini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kullanabilir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1800" b="1" i="0" u="none" strike="noStrike" baseline="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Elemanlari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birbiribine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baglidir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. Her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kendinden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sonraki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elemani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tanir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hafizada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bitisik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konumlarda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depolanmaz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bu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yuzden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dogrusal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veri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yapisi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vardir</a:t>
            </a:r>
            <a:r>
              <a:rPr lang="en-GB" b="1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endParaRPr lang="en-GB" sz="1800" b="0" i="0" u="none" strike="noStrike" baseline="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2B5198-C440-DA6C-AA1E-10C4143A9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245" y="2353357"/>
            <a:ext cx="4073494" cy="1962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EEB805-9816-35A0-9C7F-55C4169E4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993" y="4540239"/>
            <a:ext cx="4078332" cy="21780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2C908B-166D-A1C0-FF6A-AA13F0BC5843}"/>
              </a:ext>
            </a:extLst>
          </p:cNvPr>
          <p:cNvSpPr/>
          <p:nvPr/>
        </p:nvSpPr>
        <p:spPr>
          <a:xfrm>
            <a:off x="7185891" y="2353357"/>
            <a:ext cx="4158434" cy="1962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CF18CC-59BD-FF9A-154E-8EA752E206AE}"/>
              </a:ext>
            </a:extLst>
          </p:cNvPr>
          <p:cNvSpPr/>
          <p:nvPr/>
        </p:nvSpPr>
        <p:spPr>
          <a:xfrm>
            <a:off x="7185891" y="4540239"/>
            <a:ext cx="4004848" cy="21780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95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16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615A4E-6E22-5CB4-FB14-C7B3D7C8A099}"/>
              </a:ext>
            </a:extLst>
          </p:cNvPr>
          <p:cNvSpPr txBox="1">
            <a:spLocks/>
          </p:cNvSpPr>
          <p:nvPr/>
        </p:nvSpPr>
        <p:spPr bwMode="gray">
          <a:xfrm>
            <a:off x="676758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Linked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9E217-A072-2E68-7DAF-740FAFB03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56" y="2379354"/>
            <a:ext cx="10425869" cy="439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53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17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615A4E-6E22-5CB4-FB14-C7B3D7C8A099}"/>
              </a:ext>
            </a:extLst>
          </p:cNvPr>
          <p:cNvSpPr txBox="1">
            <a:spLocks/>
          </p:cNvSpPr>
          <p:nvPr/>
        </p:nvSpPr>
        <p:spPr bwMode="gray">
          <a:xfrm>
            <a:off x="676758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Linked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E1D6B-5CBF-BB82-78D5-98C8788E7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47" y="2444067"/>
            <a:ext cx="10186587" cy="430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5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18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615A4E-6E22-5CB4-FB14-C7B3D7C8A099}"/>
              </a:ext>
            </a:extLst>
          </p:cNvPr>
          <p:cNvSpPr txBox="1">
            <a:spLocks/>
          </p:cNvSpPr>
          <p:nvPr/>
        </p:nvSpPr>
        <p:spPr bwMode="gray">
          <a:xfrm>
            <a:off x="676758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Linked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44D96-3B19-9C68-1CBA-434A6B5E3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97" y="2453371"/>
            <a:ext cx="9981488" cy="421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73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19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615A4E-6E22-5CB4-FB14-C7B3D7C8A099}"/>
              </a:ext>
            </a:extLst>
          </p:cNvPr>
          <p:cNvSpPr txBox="1">
            <a:spLocks/>
          </p:cNvSpPr>
          <p:nvPr/>
        </p:nvSpPr>
        <p:spPr bwMode="gray">
          <a:xfrm>
            <a:off x="676758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Linked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List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82750-DD37-A901-1935-5552056BF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9" y="2473613"/>
            <a:ext cx="994410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52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20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Sets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304324" y="2674902"/>
            <a:ext cx="763875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Set (interface),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matematikteki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k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me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mant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ğı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yla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al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şı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r, her element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unique’dir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J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AVA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elementleri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unique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yapmak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HASH ALGORITMASI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Set,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direk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lamaz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çü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nk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interface’dir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obje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olu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turulamaz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3 Child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class’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ndan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bizim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nemli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zelli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e g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istedi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imizi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kullanabiliriz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Collections’in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zelli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de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farkl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data 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nden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elementleri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ekleyebilmenizdir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Bunun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itli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sol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tarafindaki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&lt;&gt; (data 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)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kald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labilir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veya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data 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olarak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Object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yaz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labilir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Ancak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bu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tavsiye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edilmez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nk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J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AVA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’n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 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ok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fazla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Casting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yapmas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gerekir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endParaRPr lang="en-GB" sz="1800" b="0" i="0" u="none" strike="noStrike" baseline="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A993A-9656-F1E9-8994-8B8A529CC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241" y="2351750"/>
            <a:ext cx="2706928" cy="433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69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4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HashSets</a:t>
            </a:r>
            <a:endParaRPr lang="en-GB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4" y="2286000"/>
            <a:ext cx="8825659" cy="4297680"/>
          </a:xfrm>
        </p:spPr>
        <p:txBody>
          <a:bodyPr>
            <a:normAutofit/>
          </a:bodyPr>
          <a:lstStyle/>
          <a:p>
            <a:r>
              <a:rPr lang="tr-TR" b="1" dirty="0" err="1">
                <a:solidFill>
                  <a:srgbClr val="00B0F0"/>
                </a:solidFill>
              </a:rPr>
              <a:t>HashSet</a:t>
            </a:r>
            <a:r>
              <a:rPr lang="tr-TR" b="1" dirty="0"/>
              <a:t>, her öğenin benzersiz olduğu bir öğeler topluluğudur ve </a:t>
            </a:r>
            <a:r>
              <a:rPr lang="tr-TR" b="1" dirty="0" err="1"/>
              <a:t>java.util</a:t>
            </a:r>
            <a:r>
              <a:rPr lang="tr-TR" b="1" dirty="0"/>
              <a:t> pakette bulunur: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tr-TR" b="1" dirty="0" err="1"/>
              <a:t>HashSet'e</a:t>
            </a:r>
            <a:r>
              <a:rPr lang="tr-TR" b="1" dirty="0"/>
              <a:t> eklediğimiz nesneler aynı sırada eklenmeyi garanti etmez.</a:t>
            </a:r>
            <a:endParaRPr lang="en-US" b="1" dirty="0"/>
          </a:p>
          <a:p>
            <a:r>
              <a:rPr lang="tr-TR" b="1" dirty="0"/>
              <a:t>Nesneler, karma kodlarına göre eklenir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21</a:t>
            </a:fld>
            <a:endParaRPr lang="en-GB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580" y="3238500"/>
            <a:ext cx="761238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2133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22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HashSets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377201" y="2333070"/>
            <a:ext cx="60065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Hashing,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farklı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büyüklükteki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girdilerden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sabit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büyüklükte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çıktıya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t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rme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sürecine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verilen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isimdir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Bu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işlem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, hash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fonksiyonları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olarak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bilinen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matematiksel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formüllerin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kullanımıyla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yapılır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niversitelerdeki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öğ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renci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numaralar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gibi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renci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ismi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soruldu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unda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numaras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bulursan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z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onunla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ilgili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m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bilgilere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ula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abilirsiniz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Farklı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hash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fonksiyonları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farklı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büyüklüklerde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çıktı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yaratır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fakat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her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hashing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algoritması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için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olası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çıktı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büyüklüğü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her zaman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sabittir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Bir collection’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 hash de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erini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öğ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renmek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</a:t>
            </a:r>
            <a:r>
              <a:rPr lang="en-GB" sz="1800" b="1" i="0" u="none" strike="noStrike" baseline="0" dirty="0" err="1">
                <a:solidFill>
                  <a:srgbClr val="C00000"/>
                </a:solidFill>
                <a:latin typeface="Bahnschrift" panose="020B0502040204020203" pitchFamily="34" charset="0"/>
              </a:rPr>
              <a:t>hashCode</a:t>
            </a: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()</a:t>
            </a:r>
            <a:r>
              <a:rPr lang="tr-TR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method’u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l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 </a:t>
            </a:r>
            <a:endParaRPr lang="en-GB" sz="1800" b="0" i="0" u="none" strike="noStrike" baseline="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3015B2-229D-7477-D84A-EC7EF01E0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197" y="2333070"/>
            <a:ext cx="4967130" cy="43826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9C5FCC-4D53-D073-8AB9-6350C51A6D48}"/>
              </a:ext>
            </a:extLst>
          </p:cNvPr>
          <p:cNvSpPr/>
          <p:nvPr/>
        </p:nvSpPr>
        <p:spPr>
          <a:xfrm>
            <a:off x="6714836" y="2530764"/>
            <a:ext cx="4561123" cy="40315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354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23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HashSets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467272" y="2333070"/>
            <a:ext cx="600650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Hashing </a:t>
            </a:r>
            <a:r>
              <a:rPr lang="en-GB" sz="1700" b="1" i="0" u="none" strike="noStrike" baseline="0" dirty="0" err="1">
                <a:solidFill>
                  <a:srgbClr val="C00000"/>
                </a:solidFill>
                <a:latin typeface="Bahnschrift" panose="020B0502040204020203" pitchFamily="34" charset="0"/>
              </a:rPr>
              <a:t>Nas</a:t>
            </a:r>
            <a:r>
              <a:rPr lang="tr-TR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l </a:t>
            </a:r>
            <a:r>
              <a:rPr lang="tr-TR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Ç</a:t>
            </a:r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al</a:t>
            </a:r>
            <a:r>
              <a:rPr lang="tr-TR" sz="1700" b="1" dirty="0">
                <a:solidFill>
                  <a:srgbClr val="C00000"/>
                </a:solidFill>
                <a:latin typeface="Bahnschrift" panose="020B0502040204020203" pitchFamily="34" charset="0"/>
              </a:rPr>
              <a:t>ışı</a:t>
            </a:r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r?</a:t>
            </a:r>
            <a:br>
              <a:rPr lang="tr-TR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</a:br>
            <a:br>
              <a:rPr lang="tr-TR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</a:br>
            <a:r>
              <a:rPr lang="en-GB" sz="1700" b="0" i="0" u="none" strike="noStrike" baseline="0" dirty="0">
                <a:solidFill>
                  <a:srgbClr val="000000"/>
                </a:solidFill>
                <a:latin typeface="Wingdings" panose="05000000000000000000" pitchFamily="2" charset="2"/>
              </a:rPr>
              <a:t></a:t>
            </a:r>
            <a:r>
              <a:rPr lang="tr-TR" sz="1700" b="0" i="0" u="none" strike="noStrike" baseline="0" dirty="0">
                <a:solidFill>
                  <a:srgbClr val="000000"/>
                </a:solidFill>
                <a:latin typeface="Wingdings" panose="05000000000000000000" pitchFamily="2" charset="2"/>
              </a:rPr>
              <a:t> 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B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ir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HashCollection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olu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turuldu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ğ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unda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J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AVA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16 </a:t>
            </a:r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bucket</a:t>
            </a:r>
            <a:r>
              <a:rPr lang="tr-TR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olu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turur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ve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elementleri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bu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bucket’lara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yerle</a:t>
            </a:r>
            <a:r>
              <a:rPr lang="tr-TR" sz="1700" b="1" dirty="0">
                <a:solidFill>
                  <a:srgbClr val="292929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tirmeye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ba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lar.</a:t>
            </a:r>
            <a:b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</a:br>
            <a:endParaRPr lang="en-GB" sz="1700" b="0" i="0" u="none" strike="noStrike" baseline="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pPr algn="l"/>
            <a:r>
              <a:rPr lang="en-GB" sz="1700" b="0" i="0" u="none" strike="noStrike" baseline="0" dirty="0">
                <a:solidFill>
                  <a:srgbClr val="292929"/>
                </a:solidFill>
                <a:latin typeface="Wingdings" panose="05000000000000000000" pitchFamily="2" charset="2"/>
              </a:rPr>
              <a:t></a:t>
            </a:r>
            <a:r>
              <a:rPr lang="tr-TR" sz="1700" b="0" i="0" u="none" strike="noStrike" baseline="0" dirty="0">
                <a:solidFill>
                  <a:srgbClr val="292929"/>
                </a:solidFill>
                <a:latin typeface="Wingdings" panose="05000000000000000000" pitchFamily="2" charset="2"/>
              </a:rPr>
              <a:t> 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Olu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turulan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bucket’lar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n %75’i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doldu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ğ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unda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J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AVA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16 bucket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daha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olu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turur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. Buna </a:t>
            </a:r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Load Factor</a:t>
            </a:r>
            <a:r>
              <a:rPr lang="tr-TR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denir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.</a:t>
            </a:r>
            <a:b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</a:br>
            <a:endParaRPr lang="en-GB" sz="1700" b="0" i="0" u="none" strike="noStrike" baseline="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pPr algn="l"/>
            <a:r>
              <a:rPr lang="en-GB" sz="1700" b="0" i="0" u="none" strike="noStrike" baseline="0" dirty="0">
                <a:solidFill>
                  <a:srgbClr val="292929"/>
                </a:solidFill>
                <a:latin typeface="Wingdings" panose="05000000000000000000" pitchFamily="2" charset="2"/>
              </a:rPr>
              <a:t></a:t>
            </a:r>
            <a:r>
              <a:rPr lang="tr-TR" sz="1700" b="0" i="0" u="none" strike="noStrike" baseline="0" dirty="0">
                <a:solidFill>
                  <a:srgbClr val="292929"/>
                </a:solidFill>
                <a:latin typeface="Wingdings" panose="05000000000000000000" pitchFamily="2" charset="2"/>
              </a:rPr>
              <a:t> 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J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AVA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kulland</a:t>
            </a:r>
            <a:r>
              <a:rPr lang="tr-TR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ı</a:t>
            </a:r>
            <a:r>
              <a:rPr lang="tr-TR" sz="1700" b="1" dirty="0" err="1">
                <a:solidFill>
                  <a:srgbClr val="292929"/>
                </a:solidFill>
                <a:latin typeface="Bahnschrift" panose="020B0502040204020203" pitchFamily="34" charset="0"/>
              </a:rPr>
              <a:t>ğı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m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z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key’i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kullanarak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hash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kod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dirty="0">
                <a:solidFill>
                  <a:srgbClr val="292929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retir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. E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ğ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er </a:t>
            </a:r>
            <a:r>
              <a:rPr lang="tr-TR" sz="1700" b="1" dirty="0">
                <a:solidFill>
                  <a:srgbClr val="292929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retilen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hash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kod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daha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ö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nce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dirty="0">
                <a:solidFill>
                  <a:srgbClr val="292929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retilen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bir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hash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kod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ile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ayn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ise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buna </a:t>
            </a:r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Hash Collision</a:t>
            </a:r>
            <a:r>
              <a:rPr lang="tr-TR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denir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.</a:t>
            </a:r>
            <a:b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</a:br>
            <a:endParaRPr lang="en-GB" sz="1700" b="0" i="0" u="none" strike="noStrike" baseline="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r>
              <a:rPr lang="en-GB" sz="1700" b="0" i="0" u="none" strike="noStrike" baseline="0" dirty="0">
                <a:solidFill>
                  <a:srgbClr val="292929"/>
                </a:solidFill>
                <a:latin typeface="Wingdings" panose="05000000000000000000" pitchFamily="2" charset="2"/>
              </a:rPr>
              <a:t>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Hash Collision ger</a:t>
            </a:r>
            <a:r>
              <a:rPr lang="tr-TR" sz="1700" b="1" dirty="0">
                <a:solidFill>
                  <a:srgbClr val="292929"/>
                </a:solidFill>
                <a:latin typeface="Bahnschrift" panose="020B0502040204020203" pitchFamily="34" charset="0"/>
              </a:rPr>
              <a:t>ç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eklesti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ğ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inde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dirty="0" err="1">
                <a:solidFill>
                  <a:srgbClr val="292929"/>
                </a:solidFill>
                <a:latin typeface="Bahnschrift" panose="020B0502040204020203" pitchFamily="34" charset="0"/>
              </a:rPr>
              <a:t>çö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z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m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i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ç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in 2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yol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vard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r. </a:t>
            </a:r>
            <a:b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</a:b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A) LinkedList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kullanmak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B) Form</a:t>
            </a:r>
            <a:r>
              <a:rPr lang="tr-TR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lle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belirlenen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yeni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bir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hash 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kod</a:t>
            </a:r>
            <a:r>
              <a:rPr lang="en-GB" sz="1700" b="1" i="0" u="none" strike="noStrike" baseline="0" dirty="0">
                <a:solidFill>
                  <a:srgbClr val="292929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dirty="0">
                <a:solidFill>
                  <a:srgbClr val="292929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292929"/>
                </a:solidFill>
                <a:latin typeface="Bahnschrift" panose="020B0502040204020203" pitchFamily="34" charset="0"/>
              </a:rPr>
              <a:t>retmek</a:t>
            </a:r>
            <a:r>
              <a:rPr lang="tr-TR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.</a:t>
            </a:r>
            <a:endParaRPr lang="en-GB" sz="1700" b="0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8C22EE-6250-60D5-5A09-826B2CAFF90D}"/>
              </a:ext>
            </a:extLst>
          </p:cNvPr>
          <p:cNvSpPr/>
          <p:nvPr/>
        </p:nvSpPr>
        <p:spPr>
          <a:xfrm>
            <a:off x="6836393" y="2463043"/>
            <a:ext cx="3900707" cy="41481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463044"/>
            <a:ext cx="4404359" cy="43949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8417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24</a:t>
            </a:fld>
            <a:endParaRPr lang="en-GB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83A7B32-1245-679E-EB63-C50C3A8D9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1036320"/>
            <a:ext cx="10469880" cy="569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56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25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HashSets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492909" y="2948367"/>
            <a:ext cx="85399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HashSet,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herhangi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ralama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yapmaz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yazd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rd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ğı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zda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veya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a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rd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tr-TR" b="1" dirty="0" err="1">
                <a:solidFill>
                  <a:srgbClr val="000000"/>
                </a:solidFill>
                <a:latin typeface="Bahnschrift" panose="020B0502040204020203" pitchFamily="34" charset="0"/>
              </a:rPr>
              <a:t>ğı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zda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herhangi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ralama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ile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gelebilirler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HashSet,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duplication’a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izin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vermez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er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tekrar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HashSet’e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eklemek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isterseniz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eski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silinip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, yeni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olan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ın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zerine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yaz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l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HashSet,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null de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ere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izin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verir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Bununla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birlikte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birden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fazla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null de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erini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HashSet’e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eklemek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isterseniz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sadece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tane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null de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eri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olur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endParaRPr lang="en-GB" sz="1700" b="0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34960-753E-2AFB-2804-9A4754871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584" y="2074781"/>
            <a:ext cx="2732376" cy="46094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95792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Collections</a:t>
            </a:r>
            <a: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4000" b="1" dirty="0">
                <a:latin typeface="Arial Rounded MT Bold" pitchFamily="34" charset="0"/>
              </a:rPr>
              <a:t> </a:t>
            </a:r>
            <a:r>
              <a:rPr lang="en-US" sz="4000" b="1" dirty="0" err="1">
                <a:latin typeface="Arial Rounded MT Bold" pitchFamily="34" charset="0"/>
              </a:rPr>
              <a:t>EnumSet</a:t>
            </a:r>
            <a:endParaRPr lang="tr-TR" sz="40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Collections Framework de </a:t>
            </a:r>
            <a:r>
              <a:rPr lang="tr-TR" b="1" dirty="0"/>
              <a:t> </a:t>
            </a:r>
            <a:r>
              <a:rPr lang="en-US" b="1" dirty="0" err="1"/>
              <a:t>implemente</a:t>
            </a:r>
            <a:r>
              <a:rPr lang="en-US" b="1" dirty="0"/>
              <a:t> </a:t>
            </a:r>
            <a:r>
              <a:rPr lang="en-US" b="1" dirty="0" err="1"/>
              <a:t>edilen</a:t>
            </a:r>
            <a:r>
              <a:rPr lang="en-US" b="1" dirty="0"/>
              <a:t> </a:t>
            </a:r>
            <a:r>
              <a:rPr lang="tr-TR" b="1" dirty="0" err="1">
                <a:solidFill>
                  <a:srgbClr val="00B0F0"/>
                </a:solidFill>
              </a:rPr>
              <a:t>EnumSet</a:t>
            </a:r>
            <a:r>
              <a:rPr lang="tr-TR" b="1" dirty="0">
                <a:solidFill>
                  <a:srgbClr val="00B0F0"/>
                </a:solidFill>
              </a:rPr>
              <a:t> </a:t>
            </a:r>
            <a:r>
              <a:rPr lang="tr-TR" b="1" dirty="0"/>
              <a:t>sınıfı , </a:t>
            </a:r>
            <a:r>
              <a:rPr lang="en-US" b="1" u="sng" dirty="0"/>
              <a:t>enumeration type </a:t>
            </a:r>
            <a:r>
              <a:rPr lang="en-US" b="1" u="sng" dirty="0" err="1"/>
              <a:t>ile</a:t>
            </a:r>
            <a:r>
              <a:rPr lang="tr-TR" b="1" dirty="0"/>
              <a:t> kullanım için Set </a:t>
            </a:r>
            <a:r>
              <a:rPr lang="en-US" b="1" dirty="0"/>
              <a:t>interface </a:t>
            </a:r>
            <a:r>
              <a:rPr lang="en-US" b="1" dirty="0" err="1"/>
              <a:t>inin</a:t>
            </a:r>
            <a:r>
              <a:rPr lang="en-US" b="1" dirty="0"/>
              <a:t> </a:t>
            </a:r>
            <a:r>
              <a:rPr lang="tr-TR" b="1" dirty="0"/>
              <a:t>özel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implementasyonudur</a:t>
            </a:r>
            <a:r>
              <a:rPr lang="tr-TR" b="1" dirty="0"/>
              <a:t>.</a:t>
            </a:r>
            <a:endParaRPr lang="en-US" b="1" dirty="0"/>
          </a:p>
          <a:p>
            <a:r>
              <a:rPr lang="tr-TR" b="1" dirty="0"/>
              <a:t> </a:t>
            </a:r>
            <a:r>
              <a:rPr lang="tr-TR" b="1" dirty="0" err="1"/>
              <a:t>HashSet'ten</a:t>
            </a:r>
            <a:r>
              <a:rPr lang="tr-TR" b="1" dirty="0"/>
              <a:t> çok daha hızlı, yüksek performanslı bir küme uygulamasıdır.</a:t>
            </a:r>
            <a:endParaRPr lang="en-US" b="1" dirty="0"/>
          </a:p>
          <a:p>
            <a:r>
              <a:rPr lang="tr-TR" b="1" dirty="0"/>
              <a:t>Bir </a:t>
            </a:r>
            <a:r>
              <a:rPr lang="en-US" b="1" dirty="0" err="1"/>
              <a:t>enum</a:t>
            </a:r>
            <a:r>
              <a:rPr lang="en-US" b="1" dirty="0"/>
              <a:t> set </a:t>
            </a:r>
            <a:r>
              <a:rPr lang="en-US" b="1" dirty="0" err="1"/>
              <a:t>deki</a:t>
            </a:r>
            <a:r>
              <a:rPr lang="en-US" b="1" dirty="0"/>
              <a:t> </a:t>
            </a:r>
            <a:r>
              <a:rPr lang="tr-TR" b="1" dirty="0"/>
              <a:t>tüm öğeler, </a:t>
            </a:r>
            <a:r>
              <a:rPr lang="en-US" b="1" dirty="0" err="1"/>
              <a:t>ya</a:t>
            </a:r>
            <a:r>
              <a:rPr lang="en-US" b="1" dirty="0"/>
              <a:t> </a:t>
            </a:r>
            <a:r>
              <a:rPr lang="tr-TR" b="1" dirty="0"/>
              <a:t>açık veya örtük olarak</a:t>
            </a:r>
            <a:r>
              <a:rPr lang="en-US" b="1" dirty="0"/>
              <a:t> Set</a:t>
            </a:r>
            <a:r>
              <a:rPr lang="tr-TR" b="1" dirty="0"/>
              <a:t> oluşturulduğunda belirtilen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enumeration</a:t>
            </a:r>
            <a:r>
              <a:rPr lang="tr-TR" b="1" dirty="0"/>
              <a:t> </a:t>
            </a:r>
            <a:r>
              <a:rPr lang="tr-TR" b="1" dirty="0" err="1"/>
              <a:t>type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tr-TR" b="1" dirty="0"/>
              <a:t>gelmelidir</a:t>
            </a:r>
            <a:r>
              <a:rPr lang="en-US" b="1" dirty="0"/>
              <a:t>.</a:t>
            </a:r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26</a:t>
            </a:fld>
            <a:endParaRPr lang="en-GB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" y="4358640"/>
            <a:ext cx="4888230" cy="2286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878" y="5079681"/>
            <a:ext cx="3971925" cy="10572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Düz Ok Bağlayıcısı 5"/>
          <p:cNvCxnSpPr>
            <a:stCxn id="14338" idx="3"/>
          </p:cNvCxnSpPr>
          <p:nvPr/>
        </p:nvCxnSpPr>
        <p:spPr>
          <a:xfrm>
            <a:off x="5760720" y="5501640"/>
            <a:ext cx="7315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195" y="2410778"/>
            <a:ext cx="1390650" cy="1762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6952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27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Sets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450180" y="2427074"/>
            <a:ext cx="11172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S</a:t>
            </a:r>
            <a:r>
              <a:rPr lang="tr-TR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ORU</a:t>
            </a:r>
            <a:r>
              <a:rPr lang="en-GB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: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Verilen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arraydeki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tekrarl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silip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,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sadece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unique de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erlerden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olu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an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liste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haline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getiren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program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yaz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z. </a:t>
            </a:r>
            <a:endParaRPr lang="en-GB" sz="1700" b="0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872A2-7CFD-58A1-DB9A-C5F1AC7D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810" y="3455465"/>
            <a:ext cx="5323840" cy="26728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F43B16-E46E-FB56-0F97-D3BC9ADE095C}"/>
              </a:ext>
            </a:extLst>
          </p:cNvPr>
          <p:cNvSpPr/>
          <p:nvPr/>
        </p:nvSpPr>
        <p:spPr>
          <a:xfrm>
            <a:off x="1162228" y="3455465"/>
            <a:ext cx="5230026" cy="27402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CEA4731-0D66-A7CD-B9CB-3A81995EE6A7}"/>
              </a:ext>
            </a:extLst>
          </p:cNvPr>
          <p:cNvSpPr/>
          <p:nvPr/>
        </p:nvSpPr>
        <p:spPr>
          <a:xfrm>
            <a:off x="6561650" y="4503634"/>
            <a:ext cx="1099180" cy="5212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E85931-E16B-DEE0-CF55-F1D47DCED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028" y="4563313"/>
            <a:ext cx="2235200" cy="40193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F2655E3-27F7-E7CF-80D3-8840E7E46D92}"/>
              </a:ext>
            </a:extLst>
          </p:cNvPr>
          <p:cNvSpPr/>
          <p:nvPr/>
        </p:nvSpPr>
        <p:spPr>
          <a:xfrm>
            <a:off x="7792028" y="4563313"/>
            <a:ext cx="2104002" cy="4019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Questions And Answers Icon PNG Transparent Background, Free Download #21637  - FreeIconsPNG">
            <a:extLst>
              <a:ext uri="{FF2B5EF4-FFF2-40B4-BE49-F238E27FC236}">
                <a16:creationId xmlns:a16="http://schemas.microsoft.com/office/drawing/2014/main" id="{B34D1912-BB04-58AB-77F9-00514FE7F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392" y="650358"/>
            <a:ext cx="1715857" cy="118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974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28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Set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D9385-11FD-9640-D3BC-164563A57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21" y="2324457"/>
            <a:ext cx="9943185" cy="442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64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29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Set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21EF66-6736-6140-F12F-BE2846024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62" y="2290272"/>
            <a:ext cx="9979676" cy="450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11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30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Set </a:t>
            </a:r>
            <a:r>
              <a:rPr lang="tr-TR" sz="54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E730A-BB99-787D-A8EA-F287BF289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034" y="2351142"/>
            <a:ext cx="8392281" cy="450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94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31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LinkedHashSets</a:t>
            </a:r>
            <a:endParaRPr lang="en-GB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608392" y="2452778"/>
            <a:ext cx="85399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8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1) 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Tekrarl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nb-NO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eleman kabul etmezler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endParaRPr lang="nb-NO" sz="1800" b="0" i="0" u="none" strike="noStrike" baseline="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en-GB" sz="18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2)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ekleme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ras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na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(insertion order) g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dizerler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da-DK" sz="18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3)</a:t>
            </a:r>
            <a:r>
              <a:rPr lang="da-DK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Ekleme ve remove i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da-DK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lemlerinde h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da-DK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zl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da-DK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da-DK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rlar.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4)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LinkedHashSet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,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HashSet'den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yava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t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</a:t>
            </a:r>
            <a:endParaRPr lang="en-GB" sz="1700" b="0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3B5F9-9469-CD85-5218-64EC8F4D8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775" y="3954405"/>
            <a:ext cx="6908800" cy="24618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1820A4-E36C-84BD-30A1-992CEA5DF963}"/>
              </a:ext>
            </a:extLst>
          </p:cNvPr>
          <p:cNvSpPr/>
          <p:nvPr/>
        </p:nvSpPr>
        <p:spPr>
          <a:xfrm>
            <a:off x="2487775" y="3954405"/>
            <a:ext cx="6741683" cy="2461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0" y="2320290"/>
            <a:ext cx="2072640" cy="2068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1041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solidFill>
                  <a:srgbClr val="EBEBEB"/>
                </a:solidFill>
                <a:latin typeface="Arial Rounded MT Bold" panose="020F0704030504030204" pitchFamily="34" charset="0"/>
              </a:rPr>
              <a:t>Collections</a:t>
            </a:r>
            <a: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4000" b="1" dirty="0" err="1">
                <a:latin typeface="Arial Rounded MT Bold" pitchFamily="34" charset="0"/>
              </a:rPr>
              <a:t>SortedSet</a:t>
            </a:r>
            <a:r>
              <a:rPr lang="tr-TR" sz="4000" b="1" dirty="0">
                <a:latin typeface="Arial Rounded MT Bold" pitchFamily="34" charset="0"/>
              </a:rPr>
              <a:t> </a:t>
            </a:r>
            <a:endParaRPr lang="en-GB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u="sng" dirty="0" err="1">
                <a:hlinkClick r:id="rId2"/>
              </a:rPr>
              <a:t>Java.util</a:t>
            </a:r>
            <a:r>
              <a:rPr lang="tr-TR" b="1" dirty="0"/>
              <a:t> paketinde bulunan </a:t>
            </a:r>
            <a:r>
              <a:rPr lang="tr-TR" b="1" dirty="0" err="1"/>
              <a:t>SortedSet</a:t>
            </a:r>
            <a:r>
              <a:rPr lang="tr-TR" b="1" dirty="0"/>
              <a:t> </a:t>
            </a:r>
            <a:r>
              <a:rPr lang="en-US" b="1" dirty="0"/>
              <a:t>interface i</a:t>
            </a:r>
            <a:r>
              <a:rPr lang="tr-TR" b="1" dirty="0"/>
              <a:t>, </a:t>
            </a:r>
            <a:r>
              <a:rPr lang="tr-TR" b="1" u="sng" dirty="0">
                <a:hlinkClick r:id="rId3"/>
              </a:rPr>
              <a:t>koleksiyon çerçevesinde</a:t>
            </a:r>
            <a:r>
              <a:rPr lang="tr-TR" b="1" dirty="0"/>
              <a:t> bulunan Set arabirimini </a:t>
            </a:r>
            <a:r>
              <a:rPr lang="en-US" b="1" dirty="0"/>
              <a:t>extend </a:t>
            </a:r>
            <a:r>
              <a:rPr lang="en-US" b="1" dirty="0" err="1"/>
              <a:t>eder</a:t>
            </a:r>
            <a:r>
              <a:rPr lang="tr-TR" b="1" dirty="0"/>
              <a:t> .</a:t>
            </a:r>
            <a:endParaRPr lang="en-US" b="1" dirty="0"/>
          </a:p>
          <a:p>
            <a:r>
              <a:rPr lang="tr-TR" b="1" dirty="0"/>
              <a:t> Matematiksel seti uygulayan bir </a:t>
            </a:r>
            <a:r>
              <a:rPr lang="tr-TR" b="1" dirty="0" err="1"/>
              <a:t>arayüzdür</a:t>
            </a:r>
            <a:r>
              <a:rPr lang="tr-TR" b="1" dirty="0"/>
              <a:t>. </a:t>
            </a:r>
            <a:endParaRPr lang="en-US" b="1" dirty="0"/>
          </a:p>
          <a:p>
            <a:r>
              <a:rPr lang="tr-TR" b="1" dirty="0"/>
              <a:t>Bu arabirim, Set arabiriminden miras alınan yöntemleri içerir ve bu arabirimdeki tüm öğeleri sıralı bir şekilde depolayan bir özellik ekler.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32</a:t>
            </a:fld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008" y="2172652"/>
            <a:ext cx="1966913" cy="2094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654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solidFill>
                  <a:srgbClr val="EBEBEB"/>
                </a:solidFill>
                <a:latin typeface="Arial Rounded MT Bold" panose="020F0704030504030204" pitchFamily="34" charset="0"/>
              </a:rPr>
              <a:t>Collections</a:t>
            </a:r>
            <a: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sz="4000" b="1" dirty="0">
                <a:latin typeface="Arial Rounded MT Bold" pitchFamily="34" charset="0"/>
              </a:rPr>
              <a:t>N</a:t>
            </a:r>
            <a:r>
              <a:rPr lang="tr-TR" sz="4000" b="1" dirty="0" err="1">
                <a:latin typeface="Arial Rounded MT Bold" pitchFamily="34" charset="0"/>
              </a:rPr>
              <a:t>avigable</a:t>
            </a:r>
            <a:r>
              <a:rPr lang="en-US" sz="4000" b="1" dirty="0">
                <a:latin typeface="Arial Rounded MT Bold" pitchFamily="34" charset="0"/>
              </a:rPr>
              <a:t>S</a:t>
            </a:r>
            <a:r>
              <a:rPr lang="tr-TR" sz="4000" b="1" dirty="0">
                <a:latin typeface="Arial Rounded MT Bold" pitchFamily="34" charset="0"/>
              </a:rPr>
              <a:t>et </a:t>
            </a:r>
            <a:endParaRPr lang="tr-TR" sz="4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u="sng" dirty="0" err="1">
                <a:hlinkClick r:id="rId2"/>
              </a:rPr>
              <a:t>NavigableSet</a:t>
            </a:r>
            <a:r>
              <a:rPr lang="tr-TR" b="1" u="sng" dirty="0">
                <a:hlinkClick r:id="rId2"/>
              </a:rPr>
              <a:t>, Java Collection Framework</a:t>
            </a:r>
            <a:r>
              <a:rPr lang="tr-TR" b="1" dirty="0"/>
              <a:t> içinde gezilebilir bir kümeyi temsil eder .</a:t>
            </a:r>
            <a:endParaRPr lang="en-US" b="1" dirty="0"/>
          </a:p>
          <a:p>
            <a:r>
              <a:rPr lang="tr-TR" b="1" dirty="0"/>
              <a:t> </a:t>
            </a:r>
            <a:r>
              <a:rPr lang="tr-TR" b="1" u="sng" dirty="0" err="1">
                <a:hlinkClick r:id="rId3"/>
              </a:rPr>
              <a:t>NavigableSet</a:t>
            </a:r>
            <a:r>
              <a:rPr lang="tr-TR" b="1" u="sng" dirty="0">
                <a:hlinkClick r:id="rId3"/>
              </a:rPr>
              <a:t> arabirimi, </a:t>
            </a:r>
            <a:r>
              <a:rPr lang="tr-TR" b="1" u="sng" dirty="0" err="1">
                <a:hlinkClick r:id="rId3"/>
              </a:rPr>
              <a:t>SortedSet</a:t>
            </a:r>
            <a:r>
              <a:rPr lang="tr-TR" b="1" u="sng" dirty="0">
                <a:hlinkClick r:id="rId3"/>
              </a:rPr>
              <a:t> arabiriminden</a:t>
            </a:r>
            <a:r>
              <a:rPr lang="tr-TR" b="1" dirty="0"/>
              <a:t> devralır . </a:t>
            </a:r>
            <a:endParaRPr lang="en-US" b="1" dirty="0"/>
          </a:p>
          <a:p>
            <a:r>
              <a:rPr lang="tr-TR" b="1" dirty="0" err="1"/>
              <a:t>SortedSet'in</a:t>
            </a:r>
            <a:r>
              <a:rPr lang="tr-TR" b="1" dirty="0"/>
              <a:t> sıralama mekanizmalarına ek olarak mevcut gezinme yöntemlerine sahip olmamız dışında, </a:t>
            </a:r>
            <a:r>
              <a:rPr lang="tr-TR" b="1" dirty="0" err="1"/>
              <a:t>SortedSet</a:t>
            </a:r>
            <a:r>
              <a:rPr lang="tr-TR" b="1" dirty="0"/>
              <a:t> gibi davranır. </a:t>
            </a:r>
            <a:endParaRPr lang="en-US" b="1" dirty="0"/>
          </a:p>
          <a:p>
            <a:r>
              <a:rPr lang="tr-TR" b="1" dirty="0"/>
              <a:t>Örneğin, </a:t>
            </a:r>
            <a:r>
              <a:rPr lang="tr-TR" b="1" dirty="0" err="1"/>
              <a:t>NavigableSet</a:t>
            </a:r>
            <a:r>
              <a:rPr lang="tr-TR" b="1" dirty="0"/>
              <a:t> arabirimi, </a:t>
            </a:r>
            <a:r>
              <a:rPr lang="tr-TR" b="1" dirty="0" err="1"/>
              <a:t>SortedSet'te</a:t>
            </a:r>
            <a:r>
              <a:rPr lang="tr-TR" b="1" dirty="0"/>
              <a:t> tanımlanan sıraya kıyasla kümede ters sırada gezinebilir. </a:t>
            </a:r>
            <a:endParaRPr lang="en-US" b="1" dirty="0"/>
          </a:p>
          <a:p>
            <a:r>
              <a:rPr lang="tr-TR" b="1" dirty="0"/>
              <a:t>Bir </a:t>
            </a:r>
            <a:r>
              <a:rPr lang="tr-TR" b="1" dirty="0" err="1"/>
              <a:t>NavigableSet'e</a:t>
            </a:r>
            <a:r>
              <a:rPr lang="tr-TR" b="1" dirty="0"/>
              <a:t> artan veya azalan sırayla erişilebilir ve üzerinden geçilebilir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33</a:t>
            </a:fld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2217420"/>
            <a:ext cx="1889759" cy="1821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9000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solidFill>
                  <a:srgbClr val="EBEBEB"/>
                </a:solidFill>
                <a:latin typeface="Arial Rounded MT Bold" panose="020F0704030504030204" pitchFamily="34" charset="0"/>
              </a:rPr>
              <a:t>Collections</a:t>
            </a:r>
            <a: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sz="4000" b="1" dirty="0" err="1">
                <a:latin typeface="Arial Rounded MT Bold" pitchFamily="34" charset="0"/>
              </a:rPr>
              <a:t>TreeS</a:t>
            </a:r>
            <a:r>
              <a:rPr lang="tr-TR" sz="4000" b="1" dirty="0">
                <a:latin typeface="Arial Rounded MT Bold" pitchFamily="34" charset="0"/>
              </a:rPr>
              <a:t>et </a:t>
            </a:r>
            <a:endParaRPr lang="tr-TR" sz="4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TreeSet</a:t>
            </a:r>
            <a:r>
              <a:rPr lang="tr-TR" b="1" dirty="0"/>
              <a:t>, depolama için bir </a:t>
            </a:r>
            <a:r>
              <a:rPr lang="en-US" b="1" u="sng" dirty="0"/>
              <a:t>Tree</a:t>
            </a:r>
            <a:r>
              <a:rPr lang="tr-TR" b="1" dirty="0"/>
              <a:t> kullanan Java'daki </a:t>
            </a:r>
            <a:r>
              <a:rPr lang="tr-TR" b="1" u="sng" dirty="0" err="1">
                <a:hlinkClick r:id="rId2"/>
              </a:rPr>
              <a:t>SortedSet</a:t>
            </a:r>
            <a:r>
              <a:rPr lang="tr-TR" b="1" u="sng" dirty="0">
                <a:hlinkClick r:id="rId2"/>
              </a:rPr>
              <a:t> arabiriminin</a:t>
            </a:r>
            <a:r>
              <a:rPr lang="tr-TR" b="1" dirty="0"/>
              <a:t> en önemli uygulamalarından biridir . </a:t>
            </a:r>
            <a:endParaRPr lang="en-US" b="1" dirty="0"/>
          </a:p>
          <a:p>
            <a:r>
              <a:rPr lang="tr-TR" b="1" dirty="0"/>
              <a:t>Elemanların sıralaması,</a:t>
            </a:r>
            <a:r>
              <a:rPr lang="en-US" b="1" dirty="0"/>
              <a:t> </a:t>
            </a:r>
            <a:r>
              <a:rPr lang="tr-TR" b="1" dirty="0"/>
              <a:t>doğal sıralamalarını kullanan bir küme tarafından korunur. </a:t>
            </a:r>
            <a:endParaRPr lang="en-US" b="1" dirty="0"/>
          </a:p>
          <a:p>
            <a:r>
              <a:rPr lang="tr-TR" b="1" i="1" dirty="0" err="1"/>
              <a:t>TreeSet</a:t>
            </a:r>
            <a:r>
              <a:rPr lang="tr-TR" b="1" i="1" dirty="0"/>
              <a:t>, daha hızlı erişim ve geri alma süresi nedeniyle hızlı bir şekilde erişilmesi gereken büyük miktarda sıralanmış bilgiyi depolamak için mükemmel bir seçimdir.</a:t>
            </a:r>
          </a:p>
          <a:p>
            <a:r>
              <a:rPr lang="tr-TR" b="1" i="1" dirty="0" err="1"/>
              <a:t>Null</a:t>
            </a:r>
            <a:r>
              <a:rPr lang="tr-TR" b="1" i="1" dirty="0"/>
              <a:t> değerlerinin bir </a:t>
            </a:r>
            <a:r>
              <a:rPr lang="tr-TR" b="1" i="1" dirty="0" err="1"/>
              <a:t>TreeSet'e</a:t>
            </a:r>
            <a:r>
              <a:rPr lang="tr-TR" b="1" i="1" dirty="0"/>
              <a:t> eklenmesi </a:t>
            </a:r>
            <a:r>
              <a:rPr lang="tr-TR" b="1" i="1" u="sng" dirty="0" err="1">
                <a:hlinkClick r:id="rId3"/>
              </a:rPr>
              <a:t>NullPointerException'ı</a:t>
            </a:r>
            <a:r>
              <a:rPr lang="tr-TR" b="1" i="1" dirty="0"/>
              <a:t> atar çünkü </a:t>
            </a:r>
            <a:r>
              <a:rPr lang="tr-TR" b="1" i="1" dirty="0" err="1"/>
              <a:t>null</a:t>
            </a:r>
            <a:r>
              <a:rPr lang="tr-TR" b="1" i="1" dirty="0"/>
              <a:t> eklenirken mevcut öğelerle karşılaştırılır ve </a:t>
            </a:r>
            <a:r>
              <a:rPr lang="tr-TR" b="1" i="1" dirty="0" err="1"/>
              <a:t>null</a:t>
            </a:r>
            <a:r>
              <a:rPr lang="tr-TR" b="1" i="1" dirty="0"/>
              <a:t> herhangi bir değerle karşılaştırılamaz.</a:t>
            </a:r>
          </a:p>
          <a:p>
            <a:endParaRPr lang="en-US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34</a:t>
            </a:fld>
            <a:endParaRPr lang="en-GB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780" y="2042160"/>
            <a:ext cx="1905000" cy="2301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4266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35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Sets</a:t>
            </a:r>
            <a:endParaRPr lang="en-GB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9" name="Picture 8" descr="Questions And Answers Icon PNG Transparent Background, Free Download #21637  - FreeIconsPNG">
            <a:extLst>
              <a:ext uri="{FF2B5EF4-FFF2-40B4-BE49-F238E27FC236}">
                <a16:creationId xmlns:a16="http://schemas.microsoft.com/office/drawing/2014/main" id="{B9077B01-3A48-0AC3-127C-48864F3B2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392" y="650358"/>
            <a:ext cx="1715857" cy="118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F6D94B-7461-D467-00F5-D34545DD0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" y="2707963"/>
            <a:ext cx="109251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75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36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Queue</a:t>
            </a:r>
            <a:endParaRPr lang="en-GB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343473" y="2324591"/>
            <a:ext cx="820232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Queue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interface’dir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dolay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s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yla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constructor’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yoktur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</a:t>
            </a: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Queue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olu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turmak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child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class’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olan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00AFEF"/>
                </a:solidFill>
                <a:latin typeface="Bahnschrift" panose="020B0502040204020203" pitchFamily="34" charset="0"/>
              </a:rPr>
              <a:t>LinkedList</a:t>
            </a:r>
            <a:r>
              <a:rPr lang="tr-TR" sz="1700" b="1" i="0" u="none" strike="noStrike" baseline="0" dirty="0">
                <a:solidFill>
                  <a:srgbClr val="00AFEF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veya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AFEF"/>
                </a:solidFill>
                <a:latin typeface="Bahnschrift" panose="020B0502040204020203" pitchFamily="34" charset="0"/>
              </a:rPr>
              <a:t>PriorityQue</a:t>
            </a:r>
            <a:r>
              <a:rPr lang="tr-TR" sz="1700" b="1" i="0" u="none" strike="noStrike" baseline="0" dirty="0">
                <a:solidFill>
                  <a:srgbClr val="00AFEF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labilir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7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1)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PriorityQueue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constructor’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kullanarak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Queue 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retirseniz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,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J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AVA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kendisi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"priority"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(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ncelik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)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kural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retir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retti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bu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kurala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g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re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dizer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İ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stersek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biz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kendi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"priority"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(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ncelik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)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kural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m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z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retip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bu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kurala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g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e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dizebiliriz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</a:t>
            </a: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7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2)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LinkedList constructor’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kullanarak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Queue </a:t>
            </a:r>
            <a:r>
              <a:rPr lang="tr-TR" sz="1700" b="1" dirty="0">
                <a:solidFill>
                  <a:srgbClr val="000000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retirseniz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insertion s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ras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na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g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re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ekler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endParaRPr lang="en-GB" sz="1700" b="0" i="0" u="none" strike="noStrike" baseline="0" dirty="0">
              <a:latin typeface="Bahnschrift" panose="020B0502040204020203" pitchFamily="34" charset="0"/>
            </a:endParaRPr>
          </a:p>
          <a:p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NOT:  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Queue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ay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c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zellik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:</a:t>
            </a:r>
            <a:endParaRPr lang="en-GB" sz="1700" b="0" i="0" u="none" strike="noStrike" baseline="0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Elemanlar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en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sona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eklenir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en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ba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tan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silinir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Bu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sisteme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FIFO(First In First Out ilk </a:t>
            </a:r>
            <a:r>
              <a:rPr lang="en-GB" sz="1700" b="1" i="0" u="none" strike="noStrike" baseline="0" dirty="0" err="1">
                <a:solidFill>
                  <a:srgbClr val="C00000"/>
                </a:solidFill>
                <a:latin typeface="Bahnschrift" panose="020B0502040204020203" pitchFamily="34" charset="0"/>
              </a:rPr>
              <a:t>giren</a:t>
            </a:r>
            <a:r>
              <a:rPr lang="en-GB" sz="1700" b="1" i="0" u="none" strike="noStrike" dirty="0">
                <a:solidFill>
                  <a:srgbClr val="C00000"/>
                </a:solidFill>
                <a:latin typeface="Bahnschrift" panose="020B0502040204020203" pitchFamily="34" charset="0"/>
              </a:rPr>
              <a:t> ilk </a:t>
            </a:r>
            <a:r>
              <a:rPr lang="en-GB" sz="1700" b="1" i="0" u="none" strike="noStrike" dirty="0" err="1">
                <a:solidFill>
                  <a:srgbClr val="C00000"/>
                </a:solidFill>
                <a:latin typeface="Bahnschrift" panose="020B0502040204020203" pitchFamily="34" charset="0"/>
              </a:rPr>
              <a:t>cikar</a:t>
            </a:r>
            <a:r>
              <a:rPr lang="en-GB" sz="17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)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denir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Eczaneler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, 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y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emekhaneler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bu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sistemi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</a:t>
            </a:r>
            <a:r>
              <a:rPr lang="tr-TR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 </a:t>
            </a:r>
            <a:endParaRPr lang="en-GB" sz="1700" b="0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70AC0C-FDCA-A77A-1F0D-F4CBAE344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836" y="3512322"/>
            <a:ext cx="3682963" cy="21001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FCB02E6-843C-BB06-86AE-FCFA067266AD}"/>
              </a:ext>
            </a:extLst>
          </p:cNvPr>
          <p:cNvSpPr/>
          <p:nvPr/>
        </p:nvSpPr>
        <p:spPr>
          <a:xfrm>
            <a:off x="8280875" y="3512322"/>
            <a:ext cx="3743924" cy="22133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175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37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48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48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Queue </a:t>
            </a:r>
            <a:r>
              <a:rPr lang="tr-TR" sz="48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en-GB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4D503-BDF8-4640-7711-F0E3613B1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78" y="2392822"/>
            <a:ext cx="10038844" cy="446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76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38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sz="5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tr-TR" sz="5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Deque</a:t>
            </a:r>
            <a:endParaRPr lang="en-GB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343473" y="2156382"/>
            <a:ext cx="1184852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Deque</a:t>
            </a:r>
            <a:br>
              <a:rPr lang="tr-TR" sz="18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Double Ended Queue (</a:t>
            </a:r>
            <a:r>
              <a:rPr lang="tr-TR" b="1" dirty="0" err="1"/>
              <a:t>Deque</a:t>
            </a:r>
            <a:r>
              <a:rPr lang="tr-TR" b="1" dirty="0"/>
              <a:t>, çift uçlu </a:t>
            </a:r>
            <a:r>
              <a:rPr lang="tr-TR" b="1" u="sng" dirty="0">
                <a:hlinkClick r:id="rId3"/>
              </a:rPr>
              <a:t>kuyruğun</a:t>
            </a:r>
            <a:r>
              <a:rPr lang="tr-TR" b="1" dirty="0"/>
              <a:t> kısaltmasıdır .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)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Queue'larda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FIFO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ge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erli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,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Deque'lerde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hem FIFO hem de LIFO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(Last In First Out)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ge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erlidir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Deque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interface’dir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dolay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s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yla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constructor’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yoktur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 LinkedList constructor’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kullan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larak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deque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olu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ş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turulabilir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Deques do not accept Null as an element.</a:t>
            </a: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Deque’de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ilk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son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nemli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oldu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u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i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in ilk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ve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son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elemana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ö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zel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bir</a:t>
            </a:r>
            <a:r>
              <a:rPr lang="tr-TR" b="1" dirty="0">
                <a:solidFill>
                  <a:srgbClr val="000000"/>
                </a:solidFill>
                <a:latin typeface="Bahnschrift" panose="020B0502040204020203" pitchFamily="34" charset="0"/>
              </a:rPr>
              <a:t>ç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ok method </a:t>
            </a:r>
            <a:r>
              <a:rPr lang="en-GB" sz="1800" b="1" i="0" u="none" strike="noStrike" baseline="0" dirty="0" err="1">
                <a:solidFill>
                  <a:srgbClr val="000000"/>
                </a:solidFill>
                <a:latin typeface="Bahnschrift" panose="020B0502040204020203" pitchFamily="34" charset="0"/>
              </a:rPr>
              <a:t>vard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Bahnschrift" panose="020B0502040204020203" pitchFamily="34" charset="0"/>
              </a:rPr>
              <a:t>r.</a:t>
            </a:r>
            <a:endParaRPr lang="en-GB" sz="1700" b="1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71C5B-911B-4EB0-E0A9-4F645D5DD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915" y="5049482"/>
            <a:ext cx="2971082" cy="1650601"/>
          </a:xfrm>
          <a:prstGeom prst="rect">
            <a:avLst/>
          </a:prstGeom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" y="5382240"/>
            <a:ext cx="5029199" cy="1125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1640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Deq</a:t>
            </a:r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ue</a:t>
            </a:r>
            <a:r>
              <a:rPr lang="tr-TR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39</a:t>
            </a:fld>
            <a:endParaRPr lang="en-GB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86" y="2392318"/>
            <a:ext cx="4798214" cy="7776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429950"/>
            <a:ext cx="4904422" cy="802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055" y="4462463"/>
            <a:ext cx="4667250" cy="12125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204" y="4455796"/>
            <a:ext cx="3388995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8722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Collections</a:t>
            </a:r>
            <a:r>
              <a:rPr lang="tr-TR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/ </a:t>
            </a:r>
            <a:r>
              <a:rPr lang="en-US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Deq</a:t>
            </a:r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ue</a:t>
            </a:r>
            <a:r>
              <a:rPr lang="tr-TR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tr-TR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Method’ları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40</a:t>
            </a:fld>
            <a:endParaRPr lang="en-GB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340" y="2428875"/>
            <a:ext cx="4853940" cy="12592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070" y="3925252"/>
            <a:ext cx="1539240" cy="1119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310" y="3925252"/>
            <a:ext cx="3371850" cy="1119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398" y="5268865"/>
            <a:ext cx="5313524" cy="9642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6861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41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THE END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C4FC3-59EA-9D7B-73F2-A506EA268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398" y="4928965"/>
            <a:ext cx="6553200" cy="1409700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61" y="2317749"/>
            <a:ext cx="7212169" cy="279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70321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14"/>
          <p:cNvGrpSpPr/>
          <p:nvPr/>
        </p:nvGrpSpPr>
        <p:grpSpPr>
          <a:xfrm>
            <a:off x="7213735" y="959320"/>
            <a:ext cx="4474832" cy="5105395"/>
            <a:chOff x="2602525" y="317054"/>
            <a:chExt cx="4174283" cy="4762495"/>
          </a:xfrm>
        </p:grpSpPr>
        <p:sp>
          <p:nvSpPr>
            <p:cNvPr id="424" name="Google Shape;424;p14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4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4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482" name="Google Shape;482;p14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483" name="Google Shape;483;p14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" name="Google Shape;484;p14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14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6" name="Google Shape;486;p14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487" name="Google Shape;487;p14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4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9" name="Google Shape;489;p14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14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14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14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14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14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14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14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" name="Google Shape;497;p14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14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14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14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14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14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14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14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14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14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14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14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14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14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14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14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14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14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14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14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14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14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14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14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14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4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4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14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14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14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14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14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14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14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14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14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14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14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14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p14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14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14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" name="Google Shape;539;p14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14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14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14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3" name="Google Shape;543;p14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14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14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14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14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14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14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14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14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" name="Google Shape;552;p14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3" name="Google Shape;553;p14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554" name="Google Shape;554;p14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555" name="Google Shape;555;p14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6" name="Google Shape;556;p14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" name="Google Shape;557;p1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8" name="Google Shape;558;p1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9" name="Google Shape;559;p14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60" name="Google Shape;560;p14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4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14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63" name="Google Shape;563;p14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4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4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4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4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4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" name="Google Shape;569;p14"/>
          <p:cNvSpPr txBox="1">
            <a:spLocks noGrp="1"/>
          </p:cNvSpPr>
          <p:nvPr>
            <p:ph type="ctrTitle" idx="4294967295"/>
          </p:nvPr>
        </p:nvSpPr>
        <p:spPr>
          <a:xfrm>
            <a:off x="914400" y="1603251"/>
            <a:ext cx="57916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Clr>
                <a:schemeClr val="accent2"/>
              </a:buClr>
              <a:buSzPts val="4800"/>
            </a:pPr>
            <a:r>
              <a:rPr lang="tr-TR" sz="9600" b="1" dirty="0">
                <a:solidFill>
                  <a:srgbClr val="741B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SemiBold"/>
                <a:ea typeface="Raleway SemiBold"/>
                <a:cs typeface="Raleway SemiBold"/>
                <a:sym typeface="Raleway SemiBold"/>
              </a:rPr>
              <a:t>THANKS!</a:t>
            </a:r>
            <a:endParaRPr sz="9600" b="1" dirty="0">
              <a:solidFill>
                <a:srgbClr val="741B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571" name="Google Shape;57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6197" y="830993"/>
            <a:ext cx="3149329" cy="344457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570;p14">
            <a:extLst>
              <a:ext uri="{FF2B5EF4-FFF2-40B4-BE49-F238E27FC236}">
                <a16:creationId xmlns:a16="http://schemas.microsoft.com/office/drawing/2014/main" id="{BBD2841C-2653-7DAC-075B-9549739D9878}"/>
              </a:ext>
            </a:extLst>
          </p:cNvPr>
          <p:cNvSpPr txBox="1">
            <a:spLocks/>
          </p:cNvSpPr>
          <p:nvPr/>
        </p:nvSpPr>
        <p:spPr>
          <a:xfrm>
            <a:off x="460917" y="2994347"/>
            <a:ext cx="6425722" cy="303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 algn="ctr">
              <a:buNone/>
            </a:pPr>
            <a:r>
              <a:rPr lang="en-GB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"/>
                <a:ea typeface="Barlow"/>
                <a:cs typeface="Barlow"/>
                <a:sym typeface="Barlow"/>
              </a:rPr>
              <a:t>Any questions?</a:t>
            </a:r>
          </a:p>
          <a:p>
            <a:pPr marL="152396" indent="0">
              <a:spcBef>
                <a:spcPts val="0"/>
              </a:spcBef>
              <a:buClr>
                <a:srgbClr val="741B47"/>
              </a:buClr>
              <a:buNone/>
            </a:pPr>
            <a:endParaRPr lang="tr-TR" sz="2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2396" indent="0" algn="ctr">
              <a:spcBef>
                <a:spcPts val="0"/>
              </a:spcBef>
              <a:buClr>
                <a:srgbClr val="741B47"/>
              </a:buClr>
              <a:buNone/>
            </a:pPr>
            <a:r>
              <a:rPr lang="tr-TR" sz="2667" b="1" dirty="0" err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HalUk</a:t>
            </a:r>
            <a:r>
              <a:rPr lang="tr-TR" sz="2667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Bilgin  </a:t>
            </a:r>
            <a:r>
              <a:rPr lang="tr-TR" sz="2667" b="1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 JAVA </a:t>
            </a:r>
            <a:r>
              <a:rPr lang="tr-TR" sz="2667" b="1" dirty="0" err="1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</a:t>
            </a:r>
            <a:r>
              <a:rPr lang="tr-TR" sz="2667" b="1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Developer</a:t>
            </a:r>
          </a:p>
          <a:p>
            <a:pPr marL="152396" indent="0" algn="ctr">
              <a:spcBef>
                <a:spcPts val="0"/>
              </a:spcBef>
              <a:buClr>
                <a:srgbClr val="741B47"/>
              </a:buClr>
              <a:buNone/>
            </a:pPr>
            <a:br>
              <a:rPr lang="tr-TR" sz="2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3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BAŞARI GAYRETE AŞIKTIR </a:t>
            </a:r>
            <a:r>
              <a:rPr lang="tr-TR" sz="3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</a:t>
            </a:r>
            <a:br>
              <a:rPr lang="en-GB" sz="3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3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97B127-01DA-66EE-AC0F-579F1613D9AF}"/>
              </a:ext>
            </a:extLst>
          </p:cNvPr>
          <p:cNvSpPr txBox="1">
            <a:spLocks/>
          </p:cNvSpPr>
          <p:nvPr/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ctr" defTabSz="457200" rtl="0" eaLnBrk="1" latinLnBrk="0" hangingPunct="1"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25E363-AEB8-457D-A372-AB32C6C0CEFC}" type="slidenum">
              <a:rPr lang="en-GB" smtClean="0"/>
              <a:pPr/>
              <a:t>42</a:t>
            </a:fld>
            <a:endParaRPr lang="en-GB" dirty="0"/>
          </a:p>
        </p:txBody>
      </p:sp>
      <p:pic>
        <p:nvPicPr>
          <p:cNvPr id="3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5777D693-B902-CC3A-968D-C2CCAC41E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19914</TotalTime>
  <Words>2058</Words>
  <Application>Microsoft Macintosh PowerPoint</Application>
  <PresentationFormat>Geniş ekran</PresentationFormat>
  <Paragraphs>185</Paragraphs>
  <Slides>42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42</vt:i4>
      </vt:variant>
    </vt:vector>
  </HeadingPairs>
  <TitlesOfParts>
    <vt:vector size="54" baseType="lpstr">
      <vt:lpstr>Arial</vt:lpstr>
      <vt:lpstr>Arial Rounded MT Bold</vt:lpstr>
      <vt:lpstr>Bahnschrift</vt:lpstr>
      <vt:lpstr>Barlow</vt:lpstr>
      <vt:lpstr>Bauhaus 93</vt:lpstr>
      <vt:lpstr>Calibri</vt:lpstr>
      <vt:lpstr>Century Gothic</vt:lpstr>
      <vt:lpstr>Raleway SemiBold</vt:lpstr>
      <vt:lpstr>Wingdings</vt:lpstr>
      <vt:lpstr>Wingdings 3</vt:lpstr>
      <vt:lpstr>Ion Boardroom</vt:lpstr>
      <vt:lpstr>1_Ion Boardroom</vt:lpstr>
      <vt:lpstr>Subject:      Collections</vt:lpstr>
      <vt:lpstr>PowerPoint Sunusu</vt:lpstr>
      <vt:lpstr>java.util.Collection &amp;&amp; java.util.Map</vt:lpstr>
      <vt:lpstr>Java'daki Koleksiyonlar</vt:lpstr>
      <vt:lpstr>Collections / List</vt:lpstr>
      <vt:lpstr>Collections / ArrayList</vt:lpstr>
      <vt:lpstr>Collections / ArrayList</vt:lpstr>
      <vt:lpstr>Collections / ArrayList</vt:lpstr>
      <vt:lpstr>Collections / ArrayList</vt:lpstr>
      <vt:lpstr>Collections / ArrayList</vt:lpstr>
      <vt:lpstr>Bir ArrayList Üzerinde Loop</vt:lpstr>
      <vt:lpstr>Diğer çeşitler(int,char…)</vt:lpstr>
      <vt:lpstr>PowerPoint Sunusu</vt:lpstr>
      <vt:lpstr>Array ve LinkedList fark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Collections / HashSets</vt:lpstr>
      <vt:lpstr>PowerPoint Sunusu</vt:lpstr>
      <vt:lpstr>PowerPoint Sunusu</vt:lpstr>
      <vt:lpstr>PowerPoint Sunusu</vt:lpstr>
      <vt:lpstr>PowerPoint Sunusu</vt:lpstr>
      <vt:lpstr>Collections /  EnumSet</vt:lpstr>
      <vt:lpstr>PowerPoint Sunusu</vt:lpstr>
      <vt:lpstr>PowerPoint Sunusu</vt:lpstr>
      <vt:lpstr>PowerPoint Sunusu</vt:lpstr>
      <vt:lpstr>PowerPoint Sunusu</vt:lpstr>
      <vt:lpstr>PowerPoint Sunusu</vt:lpstr>
      <vt:lpstr>Collections / SortedSet </vt:lpstr>
      <vt:lpstr>Collections / NavigableSet </vt:lpstr>
      <vt:lpstr>Collections / TreeSet </vt:lpstr>
      <vt:lpstr>PowerPoint Sunusu</vt:lpstr>
      <vt:lpstr>PowerPoint Sunusu</vt:lpstr>
      <vt:lpstr>PowerPoint Sunusu</vt:lpstr>
      <vt:lpstr>PowerPoint Sunusu</vt:lpstr>
      <vt:lpstr>Collections / Deque Method’ları</vt:lpstr>
      <vt:lpstr>Collections / Deque Method’ları</vt:lpstr>
      <vt:lpstr>PowerPoint Sunusu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Subject: JAVA Giriş</dc:title>
  <dc:creator>Ferhan BARIN</dc:creator>
  <cp:lastModifiedBy>Microsoft Office User</cp:lastModifiedBy>
  <cp:revision>285</cp:revision>
  <dcterms:created xsi:type="dcterms:W3CDTF">2022-07-15T06:22:15Z</dcterms:created>
  <dcterms:modified xsi:type="dcterms:W3CDTF">2026-01-15T17:53:55Z</dcterms:modified>
</cp:coreProperties>
</file>